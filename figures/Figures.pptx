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63" r:id="rId5"/>
    <p:sldId id="265" r:id="rId6"/>
    <p:sldId id="267" r:id="rId7"/>
    <p:sldId id="261" r:id="rId8"/>
    <p:sldId id="262" r:id="rId9"/>
    <p:sldId id="266" r:id="rId10"/>
    <p:sldId id="268" r:id="rId11"/>
    <p:sldId id="258" r:id="rId12"/>
    <p:sldId id="264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A94"/>
    <a:srgbClr val="303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99"/>
    <p:restoredTop sz="94661"/>
  </p:normalViewPr>
  <p:slideViewPr>
    <p:cSldViewPr snapToGrid="0">
      <p:cViewPr>
        <p:scale>
          <a:sx n="93" d="100"/>
          <a:sy n="93" d="100"/>
        </p:scale>
        <p:origin x="144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1BEA7-3E4B-D347-B262-7FE8440DEDD5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0A6A9C-9EE0-D74C-9271-EEAF5A2AFD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6519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A6A9C-9EE0-D74C-9271-EEAF5A2AFD7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2184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06722-0563-12C4-2F11-5D022F2B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4E49B88-CE0E-C37D-8ADC-E81C2CA15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2282DB6-419D-FF7C-D431-CC4434E31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17AB17-29CE-A605-278B-BFDF98FE5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A6A9C-9EE0-D74C-9271-EEAF5A2AFD75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8304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EC71C-79EE-AF4B-5B06-3828A7C7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1B4B617-8450-E0BA-A0DC-FF119456F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44D91D2-B74F-65FB-E506-F70403CFC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045A3C-BAA9-FA02-8500-3BFD92373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A6A9C-9EE0-D74C-9271-EEAF5A2AFD75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541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E150-F952-6FC2-ECF0-A4CB0499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DDE3603-BF87-E87A-21FB-41A2E908D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40B2039-0C1E-E4A6-B7B8-6201952EB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144BC05-B511-EB79-FF5A-B91CFDD69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A6A9C-9EE0-D74C-9271-EEAF5A2AFD75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6991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04A56-CC51-8AA4-93D2-67C63D11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0217AA2-4C1B-0B97-2EB5-7D7D98239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D58206F-1E51-0FE1-2CE4-EC4C5648D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535920-47D3-2975-DC53-857328DFB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A6A9C-9EE0-D74C-9271-EEAF5A2AFD75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4201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0A6A9C-9EE0-D74C-9271-EEAF5A2AFD75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1542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8201D8-A832-2175-BB1E-ECABD6CF1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774177-4549-DAFB-10AF-74B0B4009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4D3875-37B8-A899-2203-295EA38F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FA51-0F7F-1C45-A8E0-69F0E057F8D3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25F5B0-4BE8-AA84-B5AB-22F322707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2BA84E-3F26-D817-B1DD-0C2F8B538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3DDA-E2A7-7746-A2B4-FF24749EBA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34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A6ED78-2B43-495C-4BB8-83FC84CE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C63046-5445-E747-094F-E89924D67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950317-A2F7-E584-7298-37E0BBD3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FA51-0F7F-1C45-A8E0-69F0E057F8D3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4B2FB5-F295-5E6E-0DAA-A118870F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749C5B-715A-7FFA-386D-31464E4B0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3DDA-E2A7-7746-A2B4-FF24749EBA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421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00E09A-F641-1717-FDD9-3999C125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2BD973-84BD-A611-1A2D-CC163F218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54A8D9-2C48-1FFD-E3C8-2DCEEA3C4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FA51-0F7F-1C45-A8E0-69F0E057F8D3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2F630A-4FBE-FCD7-1B89-4A1F4DAE0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AEA174-1491-29C6-27D1-8A8B2C909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3DDA-E2A7-7746-A2B4-FF24749EBA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28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A35EEF-9FF7-2779-7044-0C521939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8D8315-0051-10BC-8FE2-33881C4EC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B1125B-E0E3-1529-2C68-465D5999C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A6E8E7-C687-655D-9A6D-5E7EEB6D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FA51-0F7F-1C45-A8E0-69F0E057F8D3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58FC86-7FF4-E8A2-5D44-1D3B30E8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7AF73E-C151-5E25-B464-E206901A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3DDA-E2A7-7746-A2B4-FF24749EBA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659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C0679C-1045-A55B-BB79-77A143A76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924B07-95D2-1A30-A3B2-5ABAC08D0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7FCE35-1639-E5F3-0B3B-0159CD39B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582E49B-1FE0-2C19-AEDD-6E4FBD61C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C521B2-BCFC-7E17-DF9E-9F7D1141DC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069F955-A07A-D197-B43E-1F7DA466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FA51-0F7F-1C45-A8E0-69F0E057F8D3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6720E6B-5821-B79C-5866-A3E6427A8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53CD3C4-F352-1C98-E2E3-45CDF5CA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3DDA-E2A7-7746-A2B4-FF24749EBA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0037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7F6BA-BB42-FDD0-6DDB-5D659E7F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B8A171E-2E4B-8D4C-5952-CE199FB38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FA51-0F7F-1C45-A8E0-69F0E057F8D3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8582D01-3CE7-2AB3-C382-B1AE94BB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DF65215-D8B6-A1CE-03B7-B335B3DAB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3DDA-E2A7-7746-A2B4-FF24749EBA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93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886498F-77E3-E306-119C-C692DFCE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FA51-0F7F-1C45-A8E0-69F0E057F8D3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98C73F8-022A-F5DE-5A6B-112D346E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D6185E-8E83-10B8-4D88-75066EF43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3DDA-E2A7-7746-A2B4-FF24749EBA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012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B0E944-E791-2C1F-2BF9-0007C5A45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6C5AB5-B557-E3A1-5813-929E516FD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ABCBACC-22A7-0189-E1EA-5824A5EE2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3E440D-D027-BFC4-D4E9-591624B68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FA51-0F7F-1C45-A8E0-69F0E057F8D3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E45732-51BD-4CD0-3A22-6119DBA02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2AA308-78FA-D5D6-6C1B-08528C1D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3DDA-E2A7-7746-A2B4-FF24749EBA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33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B87226-2EFB-99E4-231D-F6541F542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3CF26BE-3A33-E533-6F9B-E0EB4260522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EDE5DD-DC67-9BC3-F838-7BC6BE477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F29FD8-5229-987D-B899-CAD5D9F2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FA51-0F7F-1C45-A8E0-69F0E057F8D3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DF15EA-8848-271A-D340-B27D60AB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D9B2CB-D8FA-8B58-A91D-43BFD889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3DDA-E2A7-7746-A2B4-FF24749EBA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331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E30684-DF55-514E-3539-5793AF28D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2D25DA-5647-7A95-33F3-A4D4BA72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7523FA-C396-4B6D-D084-193F807EB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FA51-0F7F-1C45-A8E0-69F0E057F8D3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3F1DBE-1699-BF1B-AF2F-4DD6F0E0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BE2356-66FA-C3A3-25E8-9D9BBF191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3DDA-E2A7-7746-A2B4-FF24749EBA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576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0BE72A3-BFA5-BC91-DE91-121B52CD6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721DDD2-5E2A-C075-EB5D-6F74CEF27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E111CA-DB45-E6A9-B84D-B3EF4843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FA51-0F7F-1C45-A8E0-69F0E057F8D3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DB959C-150B-7E96-60B6-11551863B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5B85E5-9C89-A516-2EEE-5D35DD45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3DDA-E2A7-7746-A2B4-FF24749EBA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6162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2F8FB81-DB94-5407-7D94-E4FA07791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2A938B-8063-5E7C-604F-7C88B9D12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8F2A2B-E1A6-4448-D584-12FFAED19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58FA51-0F7F-1C45-A8E0-69F0E057F8D3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7E39AD-6218-2F84-6649-47962B71C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BF5889-D92F-1803-AF0F-AD3EA0904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B3DDA-E2A7-7746-A2B4-FF24749EBA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96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620141-475F-5669-4594-DE6FB41CF6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BBC73A-ADB7-994E-21E2-8106E31B5F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1832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C65480A3-76A1-5C4A-1879-3E4EDE941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39" y="-1217307"/>
            <a:ext cx="16190235" cy="884134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F1FDEA9-9D67-42F1-1002-5D3EB0460C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88" t="45285" r="55906" b="41300"/>
          <a:stretch>
            <a:fillRect/>
          </a:stretch>
        </p:blipFill>
        <p:spPr>
          <a:xfrm>
            <a:off x="3666079" y="2386713"/>
            <a:ext cx="1849762" cy="2543424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F7C4A4C-D24D-885B-5E76-D37427A76F7B}"/>
              </a:ext>
            </a:extLst>
          </p:cNvPr>
          <p:cNvSpPr/>
          <p:nvPr/>
        </p:nvSpPr>
        <p:spPr>
          <a:xfrm>
            <a:off x="1888761" y="2143593"/>
            <a:ext cx="458199" cy="2744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170879C-77C4-2486-97EB-1B37D476DE72}"/>
              </a:ext>
            </a:extLst>
          </p:cNvPr>
          <p:cNvSpPr/>
          <p:nvPr/>
        </p:nvSpPr>
        <p:spPr>
          <a:xfrm>
            <a:off x="5994728" y="850652"/>
            <a:ext cx="458199" cy="2744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FEE1C46-B8CD-572F-6764-24C09643CF42}"/>
              </a:ext>
            </a:extLst>
          </p:cNvPr>
          <p:cNvCxnSpPr>
            <a:cxnSpLocks/>
          </p:cNvCxnSpPr>
          <p:nvPr/>
        </p:nvCxnSpPr>
        <p:spPr>
          <a:xfrm rot="-1440000">
            <a:off x="-2607100" y="3731342"/>
            <a:ext cx="36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841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A41C-E0DF-4E6A-29AA-C2AF8068D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1A2C724-7C56-694E-8AC3-9C426C9465A0}"/>
              </a:ext>
            </a:extLst>
          </p:cNvPr>
          <p:cNvGrpSpPr/>
          <p:nvPr/>
        </p:nvGrpSpPr>
        <p:grpSpPr>
          <a:xfrm>
            <a:off x="1238787" y="0"/>
            <a:ext cx="6975605" cy="3547835"/>
            <a:chOff x="781587" y="1111805"/>
            <a:chExt cx="6975605" cy="3547835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6B55D20-2457-F8B0-F42D-26370418BAD1}"/>
                </a:ext>
              </a:extLst>
            </p:cNvPr>
            <p:cNvSpPr/>
            <p:nvPr/>
          </p:nvSpPr>
          <p:spPr>
            <a:xfrm rot="-4200000">
              <a:off x="6291903" y="1002344"/>
              <a:ext cx="180000" cy="144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655DA38F-02EE-665C-DF92-63ADEF242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288" t="45285" r="55906" b="41300"/>
            <a:stretch>
              <a:fillRect/>
            </a:stretch>
          </p:blipFill>
          <p:spPr>
            <a:xfrm>
              <a:off x="3122230" y="2116216"/>
              <a:ext cx="1849762" cy="2543424"/>
            </a:xfrm>
            <a:prstGeom prst="rect">
              <a:avLst/>
            </a:prstGeom>
          </p:spPr>
        </p:pic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28759C65-7C27-CF33-0E02-A1D1CD54C8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3793" y="3142369"/>
              <a:ext cx="1040630" cy="444308"/>
            </a:xfrm>
            <a:prstGeom prst="line">
              <a:avLst/>
            </a:prstGeom>
            <a:ln w="57150">
              <a:solidFill>
                <a:schemeClr val="tx2">
                  <a:lumMod val="75000"/>
                  <a:lumOff val="25000"/>
                </a:schemeClr>
              </a:solidFill>
              <a:prstDash val="solid"/>
              <a:headEnd type="triangle" w="lg" len="lg"/>
              <a:tailEnd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CBFBED30-EAEE-C63E-BC02-A3C49E6BEC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25955" y="3292758"/>
              <a:ext cx="219600" cy="2196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0AE995F2-F3DE-5EA8-B4F7-4998A79F24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0157" y="3399651"/>
              <a:ext cx="1855543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solid"/>
              <a:head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C73D3FBD-9C50-E222-EB33-778C468979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5755" y="1705904"/>
              <a:ext cx="2051234" cy="1693748"/>
            </a:xfrm>
            <a:prstGeom prst="line">
              <a:avLst/>
            </a:prstGeom>
            <a:ln w="25400">
              <a:solidFill>
                <a:schemeClr val="accent2"/>
              </a:solidFill>
              <a:prstDash val="solid"/>
              <a:head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5F2ECFA4-E081-ADC1-AC23-CD27C54966CB}"/>
                </a:ext>
              </a:extLst>
            </p:cNvPr>
            <p:cNvSpPr txBox="1"/>
            <p:nvPr/>
          </p:nvSpPr>
          <p:spPr>
            <a:xfrm>
              <a:off x="2805737" y="1819396"/>
              <a:ext cx="1308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Guide Magnet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60418986-3655-E2DF-7EF6-478335978E72}"/>
                </a:ext>
              </a:extLst>
            </p:cNvPr>
            <p:cNvSpPr txBox="1"/>
            <p:nvPr/>
          </p:nvSpPr>
          <p:spPr>
            <a:xfrm>
              <a:off x="2939231" y="4000864"/>
              <a:ext cx="7922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Sample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C8B67839-09B7-4C69-0179-B3469598795F}"/>
                </a:ext>
              </a:extLst>
            </p:cNvPr>
            <p:cNvSpPr txBox="1"/>
            <p:nvPr/>
          </p:nvSpPr>
          <p:spPr>
            <a:xfrm>
              <a:off x="5511256" y="2303245"/>
              <a:ext cx="22459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Supermirror analyzer</a:t>
              </a:r>
              <a:br>
                <a:rPr kumimoji="1" lang="en-US" altLang="ja-JP" sz="1400" dirty="0">
                  <a:latin typeface="Helvetica" pitchFamily="2" charset="0"/>
                </a:rPr>
              </a:br>
              <a:r>
                <a:rPr kumimoji="1" lang="en-US" altLang="ja-JP" sz="1400" dirty="0">
                  <a:latin typeface="Helvetica" pitchFamily="2" charset="0"/>
                </a:rPr>
                <a:t>Transmit up spin neutrons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7A5ACB31-DA50-2D8F-6E60-C727B040CE61}"/>
                </a:ext>
              </a:extLst>
            </p:cNvPr>
            <p:cNvSpPr txBox="1"/>
            <p:nvPr/>
          </p:nvSpPr>
          <p:spPr>
            <a:xfrm>
              <a:off x="6204963" y="1111805"/>
              <a:ext cx="12578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Detector</a:t>
              </a:r>
              <a:br>
                <a:rPr lang="en-US" altLang="ja-JP" sz="1400" dirty="0">
                  <a:latin typeface="Helvetica" pitchFamily="2" charset="0"/>
                </a:rPr>
              </a:br>
              <a:r>
                <a:rPr lang="en-US" altLang="ja-JP" sz="1400" dirty="0">
                  <a:latin typeface="Helvetica" pitchFamily="2" charset="0"/>
                </a:rPr>
                <a:t>(High-angle)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13B90C5F-D355-5047-AA2E-0523DC77747B}"/>
                </a:ext>
              </a:extLst>
            </p:cNvPr>
            <p:cNvSpPr txBox="1"/>
            <p:nvPr/>
          </p:nvSpPr>
          <p:spPr>
            <a:xfrm>
              <a:off x="4697984" y="3637067"/>
              <a:ext cx="18053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Long pulsed</a:t>
              </a:r>
              <a:r>
                <a:rPr kumimoji="1" lang="en-US" altLang="ja-JP" sz="1400" dirty="0">
                  <a:latin typeface="Helvetica" pitchFamily="2" charset="0"/>
                </a:rPr>
                <a:t> Magnet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0E0B1F7C-2F72-75C6-791F-83A8F6FB2EEE}"/>
                </a:ext>
              </a:extLst>
            </p:cNvPr>
            <p:cNvSpPr txBox="1"/>
            <p:nvPr/>
          </p:nvSpPr>
          <p:spPr>
            <a:xfrm>
              <a:off x="4485295" y="3142369"/>
              <a:ext cx="667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kumimoji="1" lang="en-US" altLang="ja-JP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LPM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65B74C27-07DB-DD93-74B0-A06F6D2A16EF}"/>
                </a:ext>
              </a:extLst>
            </p:cNvPr>
            <p:cNvGrpSpPr/>
            <p:nvPr/>
          </p:nvGrpSpPr>
          <p:grpSpPr>
            <a:xfrm>
              <a:off x="2715915" y="3067457"/>
              <a:ext cx="262873" cy="664388"/>
              <a:chOff x="2715915" y="3067457"/>
              <a:chExt cx="262873" cy="664388"/>
            </a:xfrm>
          </p:grpSpPr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8F3C3323-6BC5-5B5F-EF49-B0C455893581}"/>
                  </a:ext>
                </a:extLst>
              </p:cNvPr>
              <p:cNvSpPr/>
              <p:nvPr/>
            </p:nvSpPr>
            <p:spPr>
              <a:xfrm>
                <a:off x="2715915" y="3067457"/>
                <a:ext cx="262873" cy="664388"/>
              </a:xfrm>
              <a:prstGeom prst="rect">
                <a:avLst/>
              </a:prstGeom>
              <a:pattFill prst="pct25">
                <a:fgClr>
                  <a:schemeClr val="accent1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5" name="円/楕円 44">
                <a:extLst>
                  <a:ext uri="{FF2B5EF4-FFF2-40B4-BE49-F238E27FC236}">
                    <a16:creationId xmlns:a16="http://schemas.microsoft.com/office/drawing/2014/main" id="{BD3D6CF4-EDC8-38F7-7733-E9EA1AAE80F3}"/>
                  </a:ext>
                </a:extLst>
              </p:cNvPr>
              <p:cNvSpPr/>
              <p:nvPr/>
            </p:nvSpPr>
            <p:spPr>
              <a:xfrm>
                <a:off x="2741623" y="3292758"/>
                <a:ext cx="211457" cy="21145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D8E64F53-F4E9-09AA-91E7-72C212320CED}"/>
                </a:ext>
              </a:extLst>
            </p:cNvPr>
            <p:cNvSpPr/>
            <p:nvPr/>
          </p:nvSpPr>
          <p:spPr>
            <a:xfrm rot="19200000">
              <a:off x="4736604" y="2365932"/>
              <a:ext cx="262873" cy="664388"/>
            </a:xfrm>
            <a:prstGeom prst="rect">
              <a:avLst/>
            </a:prstGeom>
            <a:pattFill prst="pct25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円/楕円 55">
              <a:extLst>
                <a:ext uri="{FF2B5EF4-FFF2-40B4-BE49-F238E27FC236}">
                  <a16:creationId xmlns:a16="http://schemas.microsoft.com/office/drawing/2014/main" id="{89CC8676-BA22-E29C-2C6B-C3A469162800}"/>
                </a:ext>
              </a:extLst>
            </p:cNvPr>
            <p:cNvSpPr/>
            <p:nvPr/>
          </p:nvSpPr>
          <p:spPr>
            <a:xfrm rot="19200000">
              <a:off x="4761563" y="2591505"/>
              <a:ext cx="211457" cy="2114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A9579070-CA05-EAD0-656C-704F5625DB52}"/>
                </a:ext>
              </a:extLst>
            </p:cNvPr>
            <p:cNvSpPr/>
            <p:nvPr/>
          </p:nvSpPr>
          <p:spPr>
            <a:xfrm rot="19200000">
              <a:off x="5344970" y="2092038"/>
              <a:ext cx="311444" cy="25019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円/楕円 58">
              <a:extLst>
                <a:ext uri="{FF2B5EF4-FFF2-40B4-BE49-F238E27FC236}">
                  <a16:creationId xmlns:a16="http://schemas.microsoft.com/office/drawing/2014/main" id="{FE69E579-B522-0CFA-B5B6-14281842AAF2}"/>
                </a:ext>
              </a:extLst>
            </p:cNvPr>
            <p:cNvSpPr/>
            <p:nvPr/>
          </p:nvSpPr>
          <p:spPr>
            <a:xfrm>
              <a:off x="2783288" y="3331022"/>
              <a:ext cx="134927" cy="13492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>
              <a:extLst>
                <a:ext uri="{FF2B5EF4-FFF2-40B4-BE49-F238E27FC236}">
                  <a16:creationId xmlns:a16="http://schemas.microsoft.com/office/drawing/2014/main" id="{150B14CD-E08F-A3BA-E46A-27A07D2F7B2B}"/>
                </a:ext>
              </a:extLst>
            </p:cNvPr>
            <p:cNvSpPr/>
            <p:nvPr/>
          </p:nvSpPr>
          <p:spPr>
            <a:xfrm>
              <a:off x="4799828" y="2629770"/>
              <a:ext cx="134927" cy="13492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16BC23D2-32B4-CCB7-F1DC-0255DFCC41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9138" y="2053170"/>
              <a:ext cx="567949" cy="999853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A244161F-47E7-8507-F62F-AF7E54FF8743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3544036" y="2045358"/>
              <a:ext cx="1110475" cy="398292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920C7C59-050A-C21A-3C89-6C9CA0E950D0}"/>
                </a:ext>
              </a:extLst>
            </p:cNvPr>
            <p:cNvCxnSpPr>
              <a:cxnSpLocks/>
              <a:stCxn id="12" idx="3"/>
              <a:endCxn id="40" idx="0"/>
            </p:cNvCxnSpPr>
            <p:nvPr/>
          </p:nvCxnSpPr>
          <p:spPr>
            <a:xfrm flipH="1">
              <a:off x="3335334" y="3480198"/>
              <a:ext cx="622781" cy="52066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2A810551-C74C-57FD-78CA-2970FCE36D92}"/>
                </a:ext>
              </a:extLst>
            </p:cNvPr>
            <p:cNvSpPr txBox="1"/>
            <p:nvPr/>
          </p:nvSpPr>
          <p:spPr>
            <a:xfrm>
              <a:off x="5147640" y="2840398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ja-JP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F9013856-4AC8-CCB4-937B-B4E728F5A97E}"/>
                </a:ext>
              </a:extLst>
            </p:cNvPr>
            <p:cNvSpPr txBox="1"/>
            <p:nvPr/>
          </p:nvSpPr>
          <p:spPr>
            <a:xfrm>
              <a:off x="2390683" y="3587452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ja-JP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E2FD644A-8C42-02A5-9DD8-FAC9B7B5F4C9}"/>
                </a:ext>
              </a:extLst>
            </p:cNvPr>
            <p:cNvSpPr txBox="1"/>
            <p:nvPr/>
          </p:nvSpPr>
          <p:spPr>
            <a:xfrm>
              <a:off x="2236165" y="3037088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ja-JP" i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1" lang="ja-JP" altLang="en-US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2674F3AD-37FC-000D-1D71-1DA03E79BFD1}"/>
                </a:ext>
              </a:extLst>
            </p:cNvPr>
            <p:cNvSpPr txBox="1"/>
            <p:nvPr/>
          </p:nvSpPr>
          <p:spPr>
            <a:xfrm>
              <a:off x="5830081" y="1784104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ja-JP" i="1" baseline="-25000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kumimoji="1" lang="ja-JP" altLang="en-US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1DA63DC-62D2-5FC4-E782-65C85DAA275B}"/>
                </a:ext>
              </a:extLst>
            </p:cNvPr>
            <p:cNvSpPr txBox="1"/>
            <p:nvPr/>
          </p:nvSpPr>
          <p:spPr>
            <a:xfrm>
              <a:off x="781587" y="3084847"/>
              <a:ext cx="16536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Incident polarized neutron beam</a:t>
              </a:r>
              <a:endParaRPr kumimoji="1" lang="ja-JP" altLang="en-US" sz="1400">
                <a:latin typeface="Helvetica" pitchFamily="2" charset="0"/>
              </a:endParaRPr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71104A-2714-0415-E0DE-2194A180DFCE}"/>
              </a:ext>
            </a:extLst>
          </p:cNvPr>
          <p:cNvSpPr txBox="1"/>
          <p:nvPr/>
        </p:nvSpPr>
        <p:spPr>
          <a:xfrm>
            <a:off x="1249423" y="2569901"/>
            <a:ext cx="19910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Helvetica" pitchFamily="2" charset="0"/>
              </a:rPr>
              <a:t>Neutron spin</a:t>
            </a:r>
            <a:br>
              <a:rPr kumimoji="1" lang="en-US" altLang="ja-JP" sz="1400" dirty="0">
                <a:latin typeface="Helvetica" pitchFamily="2" charset="0"/>
              </a:rPr>
            </a:br>
            <a:r>
              <a:rPr kumimoji="1" lang="en-US" altLang="ja-JP" sz="1400" dirty="0">
                <a:latin typeface="Helvetica" pitchFamily="2" charset="0"/>
              </a:rPr>
              <a:t>Flipper o</a:t>
            </a:r>
            <a:r>
              <a:rPr lang="en-US" altLang="ja-JP" sz="1400" dirty="0">
                <a:latin typeface="Helvetica" pitchFamily="2" charset="0"/>
              </a:rPr>
              <a:t>ff :</a:t>
            </a:r>
          </a:p>
          <a:p>
            <a:r>
              <a:rPr lang="en-US" altLang="ja-JP" sz="1400" dirty="0">
                <a:latin typeface="Helvetica" pitchFamily="2" charset="0"/>
              </a:rPr>
              <a:t>Flipper on : </a:t>
            </a:r>
            <a:endParaRPr lang="ja-JP" altLang="en-US" sz="1400">
              <a:latin typeface="Helvetica" pitchFamily="2" charset="0"/>
            </a:endParaRP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5E026591-99AA-ECA0-2C40-020B52B3015D}"/>
              </a:ext>
            </a:extLst>
          </p:cNvPr>
          <p:cNvGrpSpPr/>
          <p:nvPr/>
        </p:nvGrpSpPr>
        <p:grpSpPr>
          <a:xfrm>
            <a:off x="2637069" y="3778100"/>
            <a:ext cx="4909107" cy="2543424"/>
            <a:chOff x="2246610" y="4218672"/>
            <a:chExt cx="4909107" cy="2543424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1DDABEEA-6392-8C71-C11A-FEEF7048E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288" t="45285" r="55906" b="41300"/>
            <a:stretch>
              <a:fillRect/>
            </a:stretch>
          </p:blipFill>
          <p:spPr>
            <a:xfrm rot="1380000">
              <a:off x="3188683" y="4218672"/>
              <a:ext cx="1849762" cy="2543424"/>
            </a:xfrm>
            <a:prstGeom prst="rect">
              <a:avLst/>
            </a:prstGeom>
          </p:spPr>
        </p:pic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5A33D9E3-9078-FC82-D58C-F537BD55B463}"/>
                </a:ext>
              </a:extLst>
            </p:cNvPr>
            <p:cNvGrpSpPr/>
            <p:nvPr/>
          </p:nvGrpSpPr>
          <p:grpSpPr>
            <a:xfrm>
              <a:off x="2246610" y="5069614"/>
              <a:ext cx="4909107" cy="989626"/>
              <a:chOff x="2246610" y="5069614"/>
              <a:chExt cx="4909107" cy="989626"/>
            </a:xfrm>
          </p:grpSpPr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7871ED79-31B9-43AF-1B0D-758F5A62E6C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151659" y="4963190"/>
                <a:ext cx="0" cy="1091373"/>
              </a:xfrm>
              <a:prstGeom prst="line">
                <a:avLst/>
              </a:prstGeom>
              <a:ln w="57150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headEnd type="triangle" w="lg" len="lg"/>
                <a:tailEnd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円/楕円 20">
                <a:extLst>
                  <a:ext uri="{FF2B5EF4-FFF2-40B4-BE49-F238E27FC236}">
                    <a16:creationId xmlns:a16="http://schemas.microsoft.com/office/drawing/2014/main" id="{028DFEB4-65D9-9868-9374-7E5643B4E5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92408" y="5395214"/>
                <a:ext cx="219600" cy="2196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F5145D2D-6D51-1441-D954-913A2F9BE2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46610" y="5502107"/>
                <a:ext cx="1855543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  <a:prstDash val="solid"/>
                <a:head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729B8DD8-3C9E-7E82-D694-EEC36FF068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74154" y="5501494"/>
                <a:ext cx="3081563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  <a:prstDash val="solid"/>
                <a:head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4" name="グループ化 23">
                <a:extLst>
                  <a:ext uri="{FF2B5EF4-FFF2-40B4-BE49-F238E27FC236}">
                    <a16:creationId xmlns:a16="http://schemas.microsoft.com/office/drawing/2014/main" id="{206900F5-BC5B-19EA-D13D-F51CEE156477}"/>
                  </a:ext>
                </a:extLst>
              </p:cNvPr>
              <p:cNvGrpSpPr/>
              <p:nvPr/>
            </p:nvGrpSpPr>
            <p:grpSpPr>
              <a:xfrm>
                <a:off x="2782368" y="5164051"/>
                <a:ext cx="262873" cy="664388"/>
                <a:chOff x="2715915" y="3067457"/>
                <a:chExt cx="262873" cy="664388"/>
              </a:xfrm>
            </p:grpSpPr>
            <p:sp>
              <p:nvSpPr>
                <p:cNvPr id="38" name="正方形/長方形 37">
                  <a:extLst>
                    <a:ext uri="{FF2B5EF4-FFF2-40B4-BE49-F238E27FC236}">
                      <a16:creationId xmlns:a16="http://schemas.microsoft.com/office/drawing/2014/main" id="{BC82CFB9-D847-4E66-E79C-BD6B89FACC88}"/>
                    </a:ext>
                  </a:extLst>
                </p:cNvPr>
                <p:cNvSpPr/>
                <p:nvPr/>
              </p:nvSpPr>
              <p:spPr>
                <a:xfrm>
                  <a:off x="2715915" y="3067457"/>
                  <a:ext cx="262873" cy="664388"/>
                </a:xfrm>
                <a:prstGeom prst="rect">
                  <a:avLst/>
                </a:prstGeom>
                <a:pattFill prst="pct25">
                  <a:fgClr>
                    <a:schemeClr val="accent1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6" name="円/楕円 45">
                  <a:extLst>
                    <a:ext uri="{FF2B5EF4-FFF2-40B4-BE49-F238E27FC236}">
                      <a16:creationId xmlns:a16="http://schemas.microsoft.com/office/drawing/2014/main" id="{8583C4EF-C67D-FEDD-25BF-C96D67D24A79}"/>
                    </a:ext>
                  </a:extLst>
                </p:cNvPr>
                <p:cNvSpPr/>
                <p:nvPr/>
              </p:nvSpPr>
              <p:spPr>
                <a:xfrm>
                  <a:off x="2741623" y="3292758"/>
                  <a:ext cx="211457" cy="2114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1A2ED89F-3482-A2F6-6612-A496FBAC390E}"/>
                  </a:ext>
                </a:extLst>
              </p:cNvPr>
              <p:cNvSpPr/>
              <p:nvPr/>
            </p:nvSpPr>
            <p:spPr>
              <a:xfrm>
                <a:off x="5582965" y="5376397"/>
                <a:ext cx="311444" cy="250193"/>
              </a:xfrm>
              <a:prstGeom prst="rect">
                <a:avLst/>
              </a:prstGeom>
              <a:pattFill prst="dkHorz">
                <a:fgClr>
                  <a:schemeClr val="tx1"/>
                </a:fgClr>
                <a:bgClr>
                  <a:schemeClr val="bg1"/>
                </a:bgClr>
              </a:patt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円/楕円 26">
                <a:extLst>
                  <a:ext uri="{FF2B5EF4-FFF2-40B4-BE49-F238E27FC236}">
                    <a16:creationId xmlns:a16="http://schemas.microsoft.com/office/drawing/2014/main" id="{18C7A667-AB04-723A-8B70-0DAAE494C17A}"/>
                  </a:ext>
                </a:extLst>
              </p:cNvPr>
              <p:cNvSpPr/>
              <p:nvPr/>
            </p:nvSpPr>
            <p:spPr>
              <a:xfrm>
                <a:off x="2849741" y="5433478"/>
                <a:ext cx="134927" cy="134927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8" name="グループ化 27">
                <a:extLst>
                  <a:ext uri="{FF2B5EF4-FFF2-40B4-BE49-F238E27FC236}">
                    <a16:creationId xmlns:a16="http://schemas.microsoft.com/office/drawing/2014/main" id="{F02C3267-DB6D-A238-D9F7-321C1889BDB6}"/>
                  </a:ext>
                </a:extLst>
              </p:cNvPr>
              <p:cNvGrpSpPr/>
              <p:nvPr/>
            </p:nvGrpSpPr>
            <p:grpSpPr>
              <a:xfrm>
                <a:off x="4971775" y="5164051"/>
                <a:ext cx="262873" cy="664388"/>
                <a:chOff x="4995030" y="2586889"/>
                <a:chExt cx="262873" cy="664388"/>
              </a:xfrm>
            </p:grpSpPr>
            <p:sp>
              <p:nvSpPr>
                <p:cNvPr id="34" name="正方形/長方形 33">
                  <a:extLst>
                    <a:ext uri="{FF2B5EF4-FFF2-40B4-BE49-F238E27FC236}">
                      <a16:creationId xmlns:a16="http://schemas.microsoft.com/office/drawing/2014/main" id="{E97AC32F-DF5B-024A-8E42-B3417918A6EE}"/>
                    </a:ext>
                  </a:extLst>
                </p:cNvPr>
                <p:cNvSpPr/>
                <p:nvPr/>
              </p:nvSpPr>
              <p:spPr>
                <a:xfrm>
                  <a:off x="4995030" y="2586889"/>
                  <a:ext cx="262873" cy="664388"/>
                </a:xfrm>
                <a:prstGeom prst="rect">
                  <a:avLst/>
                </a:prstGeom>
                <a:pattFill prst="pct25">
                  <a:fgClr>
                    <a:schemeClr val="accent1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6" name="円/楕円 35">
                  <a:extLst>
                    <a:ext uri="{FF2B5EF4-FFF2-40B4-BE49-F238E27FC236}">
                      <a16:creationId xmlns:a16="http://schemas.microsoft.com/office/drawing/2014/main" id="{EE4FFCEC-45D8-405B-EB4C-C9C4F4F2BC1D}"/>
                    </a:ext>
                  </a:extLst>
                </p:cNvPr>
                <p:cNvSpPr/>
                <p:nvPr/>
              </p:nvSpPr>
              <p:spPr>
                <a:xfrm rot="19200000">
                  <a:off x="5019989" y="2812462"/>
                  <a:ext cx="211457" cy="2114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7" name="円/楕円 36">
                  <a:extLst>
                    <a:ext uri="{FF2B5EF4-FFF2-40B4-BE49-F238E27FC236}">
                      <a16:creationId xmlns:a16="http://schemas.microsoft.com/office/drawing/2014/main" id="{1F91A758-5559-59C6-A88D-EF33C397E9A9}"/>
                    </a:ext>
                  </a:extLst>
                </p:cNvPr>
                <p:cNvSpPr/>
                <p:nvPr/>
              </p:nvSpPr>
              <p:spPr>
                <a:xfrm>
                  <a:off x="5058254" y="2850727"/>
                  <a:ext cx="134927" cy="134927"/>
                </a:xfrm>
                <a:prstGeom prst="ellipse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E1371B3B-E1E3-6642-13BB-C336CD52294D}"/>
                  </a:ext>
                </a:extLst>
              </p:cNvPr>
              <p:cNvSpPr txBox="1"/>
              <p:nvPr/>
            </p:nvSpPr>
            <p:spPr>
              <a:xfrm>
                <a:off x="2457136" y="5689908"/>
                <a:ext cx="5485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i="1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ja-JP" i="1" baseline="-25000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kumimoji="1" lang="en-US" altLang="ja-JP" baseline="-25000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kumimoji="1" lang="ja-JP" altLang="en-US" baseline="-2500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07DD8F34-EF0A-CE07-7AD0-83549D03BB7F}"/>
                  </a:ext>
                </a:extLst>
              </p:cNvPr>
              <p:cNvSpPr txBox="1"/>
              <p:nvPr/>
            </p:nvSpPr>
            <p:spPr>
              <a:xfrm>
                <a:off x="2302618" y="513954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ja-JP" i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kumimoji="1" lang="ja-JP" altLang="en-US" baseline="-2500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AEFAF199-4265-F38A-9DB3-F9A89C4C4434}"/>
                  </a:ext>
                </a:extLst>
              </p:cNvPr>
              <p:cNvSpPr txBox="1"/>
              <p:nvPr/>
            </p:nvSpPr>
            <p:spPr>
              <a:xfrm>
                <a:off x="6144370" y="506961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i="1" dirty="0" err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ja-JP" i="1" baseline="-25000" dirty="0" err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kumimoji="1" lang="ja-JP" altLang="en-US" baseline="-2500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749E0384-E241-7617-5ED6-C29FCE498D30}"/>
              </a:ext>
            </a:extLst>
          </p:cNvPr>
          <p:cNvSpPr/>
          <p:nvPr/>
        </p:nvSpPr>
        <p:spPr>
          <a:xfrm>
            <a:off x="8005234" y="4785875"/>
            <a:ext cx="209158" cy="507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787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7CCCB-5DB5-66A0-BF91-97A340639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2086D657-57D2-1DDC-F703-3ADCE0340244}"/>
              </a:ext>
            </a:extLst>
          </p:cNvPr>
          <p:cNvGrpSpPr/>
          <p:nvPr/>
        </p:nvGrpSpPr>
        <p:grpSpPr>
          <a:xfrm>
            <a:off x="1978375" y="658906"/>
            <a:ext cx="6681228" cy="3547835"/>
            <a:chOff x="781587" y="1111805"/>
            <a:chExt cx="6681228" cy="3547835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26AB846-89EB-8B52-C298-EC091BA4B49B}"/>
                </a:ext>
              </a:extLst>
            </p:cNvPr>
            <p:cNvSpPr/>
            <p:nvPr/>
          </p:nvSpPr>
          <p:spPr>
            <a:xfrm rot="-4200000">
              <a:off x="6291903" y="1002344"/>
              <a:ext cx="180000" cy="144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101E2A6-8A32-28D5-C77E-7F755820A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288" t="45285" r="55906" b="41300"/>
            <a:stretch>
              <a:fillRect/>
            </a:stretch>
          </p:blipFill>
          <p:spPr>
            <a:xfrm>
              <a:off x="3122230" y="2116216"/>
              <a:ext cx="1849762" cy="2543424"/>
            </a:xfrm>
            <a:prstGeom prst="rect">
              <a:avLst/>
            </a:prstGeom>
          </p:spPr>
        </p:pic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7CBE4894-2068-356F-A6B9-383FB4422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3793" y="3142369"/>
              <a:ext cx="1040630" cy="444308"/>
            </a:xfrm>
            <a:prstGeom prst="line">
              <a:avLst/>
            </a:prstGeom>
            <a:ln w="57150">
              <a:solidFill>
                <a:schemeClr val="tx2">
                  <a:lumMod val="75000"/>
                  <a:lumOff val="25000"/>
                </a:schemeClr>
              </a:solidFill>
              <a:prstDash val="solid"/>
              <a:headEnd type="triangle" w="lg" len="lg"/>
              <a:tailEnd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5A035EAC-15E0-7871-447B-00B3C7EAD4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25955" y="3292758"/>
              <a:ext cx="219600" cy="2196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EE96E001-9DE5-44D1-87DF-89BD6BD33C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0157" y="3399651"/>
              <a:ext cx="1855543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solid"/>
              <a:head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7535A759-E216-46E2-6A0B-C024D4DE02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5755" y="1705904"/>
              <a:ext cx="2051234" cy="1693748"/>
            </a:xfrm>
            <a:prstGeom prst="line">
              <a:avLst/>
            </a:prstGeom>
            <a:ln w="25400">
              <a:solidFill>
                <a:schemeClr val="accent2"/>
              </a:solidFill>
              <a:prstDash val="solid"/>
              <a:head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A5CDF694-3D99-17A0-6718-73BF2C93A6F0}"/>
                </a:ext>
              </a:extLst>
            </p:cNvPr>
            <p:cNvSpPr txBox="1"/>
            <p:nvPr/>
          </p:nvSpPr>
          <p:spPr>
            <a:xfrm>
              <a:off x="2805737" y="1819396"/>
              <a:ext cx="1308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Guide Magnet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B88BBCDD-B422-4DD7-6262-FCCCC3B347AB}"/>
                </a:ext>
              </a:extLst>
            </p:cNvPr>
            <p:cNvSpPr txBox="1"/>
            <p:nvPr/>
          </p:nvSpPr>
          <p:spPr>
            <a:xfrm>
              <a:off x="2939231" y="4000864"/>
              <a:ext cx="7922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Sample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C7BC15FA-A5C1-689A-9FFF-C610D5992E66}"/>
                </a:ext>
              </a:extLst>
            </p:cNvPr>
            <p:cNvSpPr txBox="1"/>
            <p:nvPr/>
          </p:nvSpPr>
          <p:spPr>
            <a:xfrm>
              <a:off x="5511256" y="2303245"/>
              <a:ext cx="18549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Supermirror analyzer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30521426-2E14-150B-C9BA-A71006966466}"/>
                </a:ext>
              </a:extLst>
            </p:cNvPr>
            <p:cNvSpPr txBox="1"/>
            <p:nvPr/>
          </p:nvSpPr>
          <p:spPr>
            <a:xfrm>
              <a:off x="6204963" y="1111805"/>
              <a:ext cx="12578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Detector</a:t>
              </a:r>
              <a:br>
                <a:rPr lang="en-US" altLang="ja-JP" sz="1400" dirty="0">
                  <a:latin typeface="Helvetica" pitchFamily="2" charset="0"/>
                </a:rPr>
              </a:br>
              <a:r>
                <a:rPr lang="en-US" altLang="ja-JP" sz="1400" dirty="0">
                  <a:latin typeface="Helvetica" pitchFamily="2" charset="0"/>
                </a:rPr>
                <a:t>(High-angle)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42C93AF7-1847-30E1-086D-CDCA691B4B4B}"/>
                </a:ext>
              </a:extLst>
            </p:cNvPr>
            <p:cNvSpPr txBox="1"/>
            <p:nvPr/>
          </p:nvSpPr>
          <p:spPr>
            <a:xfrm>
              <a:off x="4697984" y="3637067"/>
              <a:ext cx="18053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Long pulsed</a:t>
              </a:r>
              <a:r>
                <a:rPr kumimoji="1" lang="en-US" altLang="ja-JP" sz="1400" dirty="0">
                  <a:latin typeface="Helvetica" pitchFamily="2" charset="0"/>
                </a:rPr>
                <a:t> Magnet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75720FCB-6AEE-0E4C-2FA0-7D01BC7975EA}"/>
                </a:ext>
              </a:extLst>
            </p:cNvPr>
            <p:cNvSpPr txBox="1"/>
            <p:nvPr/>
          </p:nvSpPr>
          <p:spPr>
            <a:xfrm>
              <a:off x="4485295" y="3142369"/>
              <a:ext cx="667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kumimoji="1" lang="en-US" altLang="ja-JP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LPM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A87F3838-CFFD-DFE9-8B89-2838B5F56B2C}"/>
                </a:ext>
              </a:extLst>
            </p:cNvPr>
            <p:cNvGrpSpPr/>
            <p:nvPr/>
          </p:nvGrpSpPr>
          <p:grpSpPr>
            <a:xfrm>
              <a:off x="2715915" y="3067457"/>
              <a:ext cx="262873" cy="664388"/>
              <a:chOff x="2715915" y="3067457"/>
              <a:chExt cx="262873" cy="664388"/>
            </a:xfrm>
          </p:grpSpPr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29F87D9A-A061-B4CB-70E7-04E9BFD9FAC3}"/>
                  </a:ext>
                </a:extLst>
              </p:cNvPr>
              <p:cNvSpPr/>
              <p:nvPr/>
            </p:nvSpPr>
            <p:spPr>
              <a:xfrm>
                <a:off x="2715915" y="3067457"/>
                <a:ext cx="262873" cy="664388"/>
              </a:xfrm>
              <a:prstGeom prst="rect">
                <a:avLst/>
              </a:prstGeom>
              <a:pattFill prst="pct25">
                <a:fgClr>
                  <a:schemeClr val="accent1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5" name="円/楕円 44">
                <a:extLst>
                  <a:ext uri="{FF2B5EF4-FFF2-40B4-BE49-F238E27FC236}">
                    <a16:creationId xmlns:a16="http://schemas.microsoft.com/office/drawing/2014/main" id="{3A98BF31-C8DE-BC95-C1FF-3AAB553426B9}"/>
                  </a:ext>
                </a:extLst>
              </p:cNvPr>
              <p:cNvSpPr/>
              <p:nvPr/>
            </p:nvSpPr>
            <p:spPr>
              <a:xfrm>
                <a:off x="2741623" y="3292758"/>
                <a:ext cx="211457" cy="21145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40306B8F-FB06-D690-3179-C55D9AC45E05}"/>
                </a:ext>
              </a:extLst>
            </p:cNvPr>
            <p:cNvSpPr/>
            <p:nvPr/>
          </p:nvSpPr>
          <p:spPr>
            <a:xfrm rot="19200000">
              <a:off x="4736604" y="2365932"/>
              <a:ext cx="262873" cy="664388"/>
            </a:xfrm>
            <a:prstGeom prst="rect">
              <a:avLst/>
            </a:prstGeom>
            <a:pattFill prst="pct25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円/楕円 55">
              <a:extLst>
                <a:ext uri="{FF2B5EF4-FFF2-40B4-BE49-F238E27FC236}">
                  <a16:creationId xmlns:a16="http://schemas.microsoft.com/office/drawing/2014/main" id="{E894FD2B-F88E-AB2B-B6EE-74EA02B4C789}"/>
                </a:ext>
              </a:extLst>
            </p:cNvPr>
            <p:cNvSpPr/>
            <p:nvPr/>
          </p:nvSpPr>
          <p:spPr>
            <a:xfrm rot="19200000">
              <a:off x="4761563" y="2591505"/>
              <a:ext cx="211457" cy="2114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5482855-B1F7-4C5E-74B9-72F38AD66354}"/>
                </a:ext>
              </a:extLst>
            </p:cNvPr>
            <p:cNvSpPr/>
            <p:nvPr/>
          </p:nvSpPr>
          <p:spPr>
            <a:xfrm rot="19200000">
              <a:off x="5344970" y="2092038"/>
              <a:ext cx="311444" cy="25019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円/楕円 58">
              <a:extLst>
                <a:ext uri="{FF2B5EF4-FFF2-40B4-BE49-F238E27FC236}">
                  <a16:creationId xmlns:a16="http://schemas.microsoft.com/office/drawing/2014/main" id="{36C2B91E-AD63-07EB-F731-20FA3A0A56B5}"/>
                </a:ext>
              </a:extLst>
            </p:cNvPr>
            <p:cNvSpPr/>
            <p:nvPr/>
          </p:nvSpPr>
          <p:spPr>
            <a:xfrm>
              <a:off x="2783288" y="3331022"/>
              <a:ext cx="134927" cy="13492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>
              <a:extLst>
                <a:ext uri="{FF2B5EF4-FFF2-40B4-BE49-F238E27FC236}">
                  <a16:creationId xmlns:a16="http://schemas.microsoft.com/office/drawing/2014/main" id="{56FE941E-D669-2728-A90A-82A4E7494F2C}"/>
                </a:ext>
              </a:extLst>
            </p:cNvPr>
            <p:cNvSpPr/>
            <p:nvPr/>
          </p:nvSpPr>
          <p:spPr>
            <a:xfrm>
              <a:off x="4799828" y="2629770"/>
              <a:ext cx="134927" cy="13492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FB016BA3-89F1-6452-9523-6088B06222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9138" y="2053170"/>
              <a:ext cx="567949" cy="999853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3B1C12C3-3ADA-14E5-5F9E-B32AB97D01E5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3544036" y="2045358"/>
              <a:ext cx="1110475" cy="398292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6B43DB34-3B02-24DE-540D-1DD8169F34E0}"/>
                </a:ext>
              </a:extLst>
            </p:cNvPr>
            <p:cNvCxnSpPr>
              <a:cxnSpLocks/>
              <a:stCxn id="12" idx="3"/>
              <a:endCxn id="40" idx="0"/>
            </p:cNvCxnSpPr>
            <p:nvPr/>
          </p:nvCxnSpPr>
          <p:spPr>
            <a:xfrm flipH="1">
              <a:off x="3335334" y="3480198"/>
              <a:ext cx="622781" cy="52066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5019DF3F-C910-A27B-5FFD-E0DD3B4FDC94}"/>
                </a:ext>
              </a:extLst>
            </p:cNvPr>
            <p:cNvSpPr txBox="1"/>
            <p:nvPr/>
          </p:nvSpPr>
          <p:spPr>
            <a:xfrm>
              <a:off x="5147640" y="2840398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ja-JP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BCCEB434-E1B7-6942-BDDF-103B62AEB515}"/>
                </a:ext>
              </a:extLst>
            </p:cNvPr>
            <p:cNvSpPr txBox="1"/>
            <p:nvPr/>
          </p:nvSpPr>
          <p:spPr>
            <a:xfrm>
              <a:off x="2390683" y="3587452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ja-JP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CB19262A-A9B5-CDB8-9941-409F12DC62A9}"/>
                </a:ext>
              </a:extLst>
            </p:cNvPr>
            <p:cNvSpPr txBox="1"/>
            <p:nvPr/>
          </p:nvSpPr>
          <p:spPr>
            <a:xfrm>
              <a:off x="2236165" y="3037088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ja-JP" i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1" lang="ja-JP" altLang="en-US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4BD9F66A-4EAE-AAEC-6CBC-630B498E1929}"/>
                </a:ext>
              </a:extLst>
            </p:cNvPr>
            <p:cNvSpPr txBox="1"/>
            <p:nvPr/>
          </p:nvSpPr>
          <p:spPr>
            <a:xfrm>
              <a:off x="5830081" y="1784104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ja-JP" i="1" baseline="-25000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kumimoji="1" lang="ja-JP" altLang="en-US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A944FCB-4EFF-9534-A0CB-F1181F237A24}"/>
                </a:ext>
              </a:extLst>
            </p:cNvPr>
            <p:cNvSpPr txBox="1"/>
            <p:nvPr/>
          </p:nvSpPr>
          <p:spPr>
            <a:xfrm>
              <a:off x="781587" y="3084847"/>
              <a:ext cx="16536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Incident polarized neutron beam</a:t>
              </a:r>
              <a:endParaRPr kumimoji="1" lang="ja-JP" altLang="en-US" sz="14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7697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553C-E519-C392-E1CC-DF993825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7CE35415-7CC6-744B-1430-B5DCCCF8B0DB}"/>
              </a:ext>
            </a:extLst>
          </p:cNvPr>
          <p:cNvGrpSpPr/>
          <p:nvPr/>
        </p:nvGrpSpPr>
        <p:grpSpPr>
          <a:xfrm>
            <a:off x="1978375" y="658906"/>
            <a:ext cx="6681228" cy="3547835"/>
            <a:chOff x="1978375" y="658906"/>
            <a:chExt cx="6681228" cy="3547835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F027757E-0B27-23FE-4096-F37BDC095611}"/>
                </a:ext>
              </a:extLst>
            </p:cNvPr>
            <p:cNvSpPr/>
            <p:nvPr/>
          </p:nvSpPr>
          <p:spPr>
            <a:xfrm rot="17400000">
              <a:off x="7488691" y="549445"/>
              <a:ext cx="180000" cy="144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77B7CBF8-4D8C-9F59-01A5-23ADE35CC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288" t="45285" r="55906" b="41300"/>
            <a:stretch>
              <a:fillRect/>
            </a:stretch>
          </p:blipFill>
          <p:spPr>
            <a:xfrm>
              <a:off x="4319018" y="1663317"/>
              <a:ext cx="1849762" cy="2543424"/>
            </a:xfrm>
            <a:prstGeom prst="rect">
              <a:avLst/>
            </a:prstGeom>
          </p:spPr>
        </p:pic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B98F2A0B-3CA2-CCE9-B43D-E62F395846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0581" y="2689470"/>
              <a:ext cx="1040630" cy="444308"/>
            </a:xfrm>
            <a:prstGeom prst="line">
              <a:avLst/>
            </a:prstGeom>
            <a:ln w="57150">
              <a:solidFill>
                <a:schemeClr val="tx2">
                  <a:lumMod val="75000"/>
                  <a:lumOff val="25000"/>
                </a:schemeClr>
              </a:solidFill>
              <a:prstDash val="solid"/>
              <a:headEnd type="triangle" w="lg" len="lg"/>
              <a:tailEnd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E1A3B6DF-8F5C-D703-D911-60C2C85AA9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76945" y="2946752"/>
              <a:ext cx="1855543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solid"/>
              <a:head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79F83326-9387-F526-AE39-682CF8DBD8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543" y="1253005"/>
              <a:ext cx="2051234" cy="1693748"/>
            </a:xfrm>
            <a:prstGeom prst="line">
              <a:avLst/>
            </a:prstGeom>
            <a:ln w="25400">
              <a:solidFill>
                <a:schemeClr val="accent2"/>
              </a:solidFill>
              <a:prstDash val="solid"/>
              <a:head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E42773BB-57BF-69CA-384A-C66CAF75220E}"/>
                </a:ext>
              </a:extLst>
            </p:cNvPr>
            <p:cNvSpPr txBox="1"/>
            <p:nvPr/>
          </p:nvSpPr>
          <p:spPr>
            <a:xfrm>
              <a:off x="3251351" y="3487362"/>
              <a:ext cx="13580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Guide Magnet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7D4C9676-66EF-FBE0-8ABE-F135CA67A7D9}"/>
                </a:ext>
              </a:extLst>
            </p:cNvPr>
            <p:cNvSpPr txBox="1"/>
            <p:nvPr/>
          </p:nvSpPr>
          <p:spPr>
            <a:xfrm>
              <a:off x="6708044" y="1850346"/>
              <a:ext cx="18549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Supermirror analyzer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724D1417-F7CD-C826-7A79-DA6CFAC87BB5}"/>
                </a:ext>
              </a:extLst>
            </p:cNvPr>
            <p:cNvSpPr txBox="1"/>
            <p:nvPr/>
          </p:nvSpPr>
          <p:spPr>
            <a:xfrm>
              <a:off x="7401751" y="658906"/>
              <a:ext cx="12578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Detector</a:t>
              </a:r>
              <a:br>
                <a:rPr lang="en-US" altLang="ja-JP" sz="1400" dirty="0">
                  <a:latin typeface="Helvetica" pitchFamily="2" charset="0"/>
                </a:rPr>
              </a:br>
              <a:r>
                <a:rPr lang="en-US" altLang="ja-JP" sz="1400" dirty="0">
                  <a:latin typeface="Helvetica" pitchFamily="2" charset="0"/>
                </a:rPr>
                <a:t>(High-angle)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6A5AB966-2527-2A75-666C-6330DB928C8E}"/>
                </a:ext>
              </a:extLst>
            </p:cNvPr>
            <p:cNvSpPr txBox="1"/>
            <p:nvPr/>
          </p:nvSpPr>
          <p:spPr>
            <a:xfrm>
              <a:off x="5894772" y="3184168"/>
              <a:ext cx="18053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Long pulsed</a:t>
              </a:r>
              <a:r>
                <a:rPr kumimoji="1" lang="en-US" altLang="ja-JP" sz="1400" dirty="0">
                  <a:latin typeface="Helvetica" pitchFamily="2" charset="0"/>
                </a:rPr>
                <a:t> Magnet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2C25836F-FB36-58F0-CC2E-C946ED5AEEC3}"/>
                </a:ext>
              </a:extLst>
            </p:cNvPr>
            <p:cNvSpPr txBox="1"/>
            <p:nvPr/>
          </p:nvSpPr>
          <p:spPr>
            <a:xfrm>
              <a:off x="5682083" y="2689470"/>
              <a:ext cx="667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kumimoji="1" lang="en-US" altLang="ja-JP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LPM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D5BEBC07-56BD-2A4D-C61F-FC7B157AACE9}"/>
                </a:ext>
              </a:extLst>
            </p:cNvPr>
            <p:cNvGrpSpPr/>
            <p:nvPr/>
          </p:nvGrpSpPr>
          <p:grpSpPr>
            <a:xfrm>
              <a:off x="3912703" y="2614558"/>
              <a:ext cx="262873" cy="664388"/>
              <a:chOff x="2715915" y="3067457"/>
              <a:chExt cx="262873" cy="664388"/>
            </a:xfrm>
          </p:grpSpPr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7BB0C3AB-52A1-EC74-40E1-6EB21E934EE6}"/>
                  </a:ext>
                </a:extLst>
              </p:cNvPr>
              <p:cNvSpPr/>
              <p:nvPr/>
            </p:nvSpPr>
            <p:spPr>
              <a:xfrm>
                <a:off x="2715915" y="3067457"/>
                <a:ext cx="262873" cy="664388"/>
              </a:xfrm>
              <a:prstGeom prst="rect">
                <a:avLst/>
              </a:prstGeom>
              <a:pattFill prst="pct25">
                <a:fgClr>
                  <a:schemeClr val="accent1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5" name="円/楕円 44">
                <a:extLst>
                  <a:ext uri="{FF2B5EF4-FFF2-40B4-BE49-F238E27FC236}">
                    <a16:creationId xmlns:a16="http://schemas.microsoft.com/office/drawing/2014/main" id="{0FB8C7B4-9A83-D667-CBE2-5428F86BB8DA}"/>
                  </a:ext>
                </a:extLst>
              </p:cNvPr>
              <p:cNvSpPr/>
              <p:nvPr/>
            </p:nvSpPr>
            <p:spPr>
              <a:xfrm>
                <a:off x="2741623" y="3292758"/>
                <a:ext cx="211457" cy="21145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2610EBAB-2C7E-B430-F350-14F098FB4457}"/>
                </a:ext>
              </a:extLst>
            </p:cNvPr>
            <p:cNvSpPr/>
            <p:nvPr/>
          </p:nvSpPr>
          <p:spPr>
            <a:xfrm rot="19200000">
              <a:off x="5933392" y="1913033"/>
              <a:ext cx="262873" cy="664388"/>
            </a:xfrm>
            <a:prstGeom prst="rect">
              <a:avLst/>
            </a:prstGeom>
            <a:pattFill prst="pct25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円/楕円 55">
              <a:extLst>
                <a:ext uri="{FF2B5EF4-FFF2-40B4-BE49-F238E27FC236}">
                  <a16:creationId xmlns:a16="http://schemas.microsoft.com/office/drawing/2014/main" id="{5DF5799B-1996-B751-0CE3-5A1EFB3E3D8A}"/>
                </a:ext>
              </a:extLst>
            </p:cNvPr>
            <p:cNvSpPr/>
            <p:nvPr/>
          </p:nvSpPr>
          <p:spPr>
            <a:xfrm rot="19200000">
              <a:off x="5958351" y="2138606"/>
              <a:ext cx="211457" cy="2114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13E88AFE-AE06-6F17-628B-31A26DE4B1B6}"/>
                </a:ext>
              </a:extLst>
            </p:cNvPr>
            <p:cNvSpPr/>
            <p:nvPr/>
          </p:nvSpPr>
          <p:spPr>
            <a:xfrm rot="19200000">
              <a:off x="6541758" y="1639139"/>
              <a:ext cx="311444" cy="25019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円/楕円 58">
              <a:extLst>
                <a:ext uri="{FF2B5EF4-FFF2-40B4-BE49-F238E27FC236}">
                  <a16:creationId xmlns:a16="http://schemas.microsoft.com/office/drawing/2014/main" id="{59533B3D-2726-8961-54D5-37296FC6DAF4}"/>
                </a:ext>
              </a:extLst>
            </p:cNvPr>
            <p:cNvSpPr/>
            <p:nvPr/>
          </p:nvSpPr>
          <p:spPr>
            <a:xfrm>
              <a:off x="3980076" y="2878123"/>
              <a:ext cx="134927" cy="13492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>
              <a:extLst>
                <a:ext uri="{FF2B5EF4-FFF2-40B4-BE49-F238E27FC236}">
                  <a16:creationId xmlns:a16="http://schemas.microsoft.com/office/drawing/2014/main" id="{300C87E1-5CF3-8245-56E9-C55BFF7FE509}"/>
                </a:ext>
              </a:extLst>
            </p:cNvPr>
            <p:cNvSpPr/>
            <p:nvPr/>
          </p:nvSpPr>
          <p:spPr>
            <a:xfrm>
              <a:off x="5996616" y="2176871"/>
              <a:ext cx="134927" cy="13492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88CC70E4-0A32-709B-126F-EA84FD8E24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649" y="1700537"/>
              <a:ext cx="365802" cy="1173599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94025E63-3FE6-ED61-F802-556F267B7ED9}"/>
                </a:ext>
              </a:extLst>
            </p:cNvPr>
            <p:cNvSpPr txBox="1"/>
            <p:nvPr/>
          </p:nvSpPr>
          <p:spPr>
            <a:xfrm>
              <a:off x="6344428" y="2387499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ja-JP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CA8E81C3-DB29-D9D3-0B64-1F806F4DBEC3}"/>
                </a:ext>
              </a:extLst>
            </p:cNvPr>
            <p:cNvSpPr txBox="1"/>
            <p:nvPr/>
          </p:nvSpPr>
          <p:spPr>
            <a:xfrm>
              <a:off x="3587471" y="3134553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ja-JP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CE89987F-9C04-A2F7-A3E4-754B0F18C7F1}"/>
                </a:ext>
              </a:extLst>
            </p:cNvPr>
            <p:cNvSpPr txBox="1"/>
            <p:nvPr/>
          </p:nvSpPr>
          <p:spPr>
            <a:xfrm>
              <a:off x="3432953" y="2584189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ja-JP" i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1" lang="ja-JP" altLang="en-US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4C3FC77C-80D7-F410-BF31-D499ADEB5709}"/>
                </a:ext>
              </a:extLst>
            </p:cNvPr>
            <p:cNvSpPr txBox="1"/>
            <p:nvPr/>
          </p:nvSpPr>
          <p:spPr>
            <a:xfrm>
              <a:off x="7026869" y="1331205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ja-JP" i="1" baseline="-25000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kumimoji="1" lang="ja-JP" altLang="en-US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545ED80-DDA0-3D71-5CDC-A4ED9044FD42}"/>
                </a:ext>
              </a:extLst>
            </p:cNvPr>
            <p:cNvSpPr txBox="1"/>
            <p:nvPr/>
          </p:nvSpPr>
          <p:spPr>
            <a:xfrm>
              <a:off x="1978375" y="2631948"/>
              <a:ext cx="16536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Incident polarized neutron beam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08810C7A-3284-8F13-2EE5-831776D7A7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53043" y="2874346"/>
              <a:ext cx="135453" cy="135453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A46FDF6D-4E3B-580D-5328-7CF0332C5532}"/>
                </a:ext>
              </a:extLst>
            </p:cNvPr>
            <p:cNvSpPr txBox="1"/>
            <p:nvPr/>
          </p:nvSpPr>
          <p:spPr>
            <a:xfrm>
              <a:off x="6389592" y="2695422"/>
              <a:ext cx="1308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Guide Magnet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BFD33B0A-C4FD-3DF5-776F-F7CC1B29DBD7}"/>
                </a:ext>
              </a:extLst>
            </p:cNvPr>
            <p:cNvGrpSpPr/>
            <p:nvPr/>
          </p:nvGrpSpPr>
          <p:grpSpPr>
            <a:xfrm rot="-1320000">
              <a:off x="5273289" y="1099969"/>
              <a:ext cx="540000" cy="540000"/>
              <a:chOff x="3305669" y="1235297"/>
              <a:chExt cx="540000" cy="540000"/>
            </a:xfrm>
          </p:grpSpPr>
          <p:cxnSp>
            <p:nvCxnSpPr>
              <p:cNvPr id="18" name="直線矢印コネクタ 17">
                <a:extLst>
                  <a:ext uri="{FF2B5EF4-FFF2-40B4-BE49-F238E27FC236}">
                    <a16:creationId xmlns:a16="http://schemas.microsoft.com/office/drawing/2014/main" id="{14891B05-D123-2716-ADF2-5FD5A8C87F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05669" y="1235297"/>
                <a:ext cx="54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4792F3B2-97E4-E822-AD72-7E9CE5EF56F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75669" y="1505297"/>
                <a:ext cx="54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lg" len="lg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BA39B1E9-65E8-D507-5DBD-31E2DDD0200C}"/>
                </a:ext>
              </a:extLst>
            </p:cNvPr>
            <p:cNvSpPr txBox="1"/>
            <p:nvPr/>
          </p:nvSpPr>
          <p:spPr>
            <a:xfrm rot="-1320000">
              <a:off x="4878626" y="803564"/>
              <a:ext cx="9044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[001] || </a:t>
              </a:r>
              <a:r>
                <a:rPr kumimoji="1" lang="en-US" altLang="ja-JP" sz="1400" i="1" dirty="0">
                  <a:latin typeface="Helvetica" pitchFamily="2" charset="0"/>
                </a:rPr>
                <a:t>H</a:t>
              </a:r>
              <a:endParaRPr kumimoji="1" lang="ja-JP" altLang="en-US" sz="1400" i="1">
                <a:latin typeface="Helvetica" pitchFamily="2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3AB34F5A-896B-13D5-A68B-29258A69333C}"/>
                </a:ext>
              </a:extLst>
            </p:cNvPr>
            <p:cNvSpPr txBox="1"/>
            <p:nvPr/>
          </p:nvSpPr>
          <p:spPr>
            <a:xfrm rot="4080000">
              <a:off x="5659406" y="1014748"/>
              <a:ext cx="5690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[110]</a:t>
              </a:r>
              <a:endParaRPr kumimoji="1" lang="ja-JP" altLang="en-US" sz="1400" i="1">
                <a:latin typeface="Helvetica" pitchFamily="2" charset="0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9BA90B5D-FF39-89E4-C5AB-823D11E59967}"/>
                </a:ext>
              </a:extLst>
            </p:cNvPr>
            <p:cNvSpPr/>
            <p:nvPr/>
          </p:nvSpPr>
          <p:spPr>
            <a:xfrm rot="20280000">
              <a:off x="5044857" y="671611"/>
              <a:ext cx="1041561" cy="9942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9303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D575-6A03-3E27-A540-A749746FA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7FD0C1FE-21BE-2AD2-CB9D-C96CBD0737BE}"/>
              </a:ext>
            </a:extLst>
          </p:cNvPr>
          <p:cNvGrpSpPr/>
          <p:nvPr/>
        </p:nvGrpSpPr>
        <p:grpSpPr>
          <a:xfrm>
            <a:off x="1978375" y="658906"/>
            <a:ext cx="6681228" cy="3547835"/>
            <a:chOff x="1978375" y="658906"/>
            <a:chExt cx="6681228" cy="3547835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1D14474-3D5D-314D-6CE9-EF0800D515E0}"/>
                </a:ext>
              </a:extLst>
            </p:cNvPr>
            <p:cNvSpPr/>
            <p:nvPr/>
          </p:nvSpPr>
          <p:spPr>
            <a:xfrm rot="17400000">
              <a:off x="7488691" y="549445"/>
              <a:ext cx="180000" cy="144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99654598-5708-F04B-D013-A117F138E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288" t="45285" r="55906" b="41300"/>
            <a:stretch>
              <a:fillRect/>
            </a:stretch>
          </p:blipFill>
          <p:spPr>
            <a:xfrm>
              <a:off x="4319018" y="1663317"/>
              <a:ext cx="1849762" cy="2543424"/>
            </a:xfrm>
            <a:prstGeom prst="rect">
              <a:avLst/>
            </a:prstGeom>
          </p:spPr>
        </p:pic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5EC432D6-A76A-5330-8D54-8C43268A6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0581" y="2689470"/>
              <a:ext cx="1040630" cy="444308"/>
            </a:xfrm>
            <a:prstGeom prst="line">
              <a:avLst/>
            </a:prstGeom>
            <a:ln w="57150">
              <a:solidFill>
                <a:schemeClr val="tx2">
                  <a:lumMod val="75000"/>
                  <a:lumOff val="25000"/>
                </a:schemeClr>
              </a:solidFill>
              <a:prstDash val="solid"/>
              <a:headEnd type="triangle" w="lg" len="lg"/>
              <a:tailEnd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60BD3FFD-DDEF-6954-C616-0DD0BC3707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76945" y="2946752"/>
              <a:ext cx="1855543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solid"/>
              <a:head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BD0FE4FC-74D9-DE74-F1F6-1A722CFDF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2543" y="1253005"/>
              <a:ext cx="2051234" cy="1693748"/>
            </a:xfrm>
            <a:prstGeom prst="line">
              <a:avLst/>
            </a:prstGeom>
            <a:ln w="25400">
              <a:solidFill>
                <a:schemeClr val="accent2"/>
              </a:solidFill>
              <a:prstDash val="solid"/>
              <a:head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EC99A113-76FF-F149-A4A6-9485728E5912}"/>
                </a:ext>
              </a:extLst>
            </p:cNvPr>
            <p:cNvSpPr txBox="1"/>
            <p:nvPr/>
          </p:nvSpPr>
          <p:spPr>
            <a:xfrm>
              <a:off x="3251351" y="3487362"/>
              <a:ext cx="13580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Guide Magnet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3F61290D-8836-1218-97D8-F0D3371EA47C}"/>
                </a:ext>
              </a:extLst>
            </p:cNvPr>
            <p:cNvSpPr txBox="1"/>
            <p:nvPr/>
          </p:nvSpPr>
          <p:spPr>
            <a:xfrm>
              <a:off x="6708044" y="1850346"/>
              <a:ext cx="18549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Supermirror analyzer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74627C78-05C2-3D8D-64D4-EA0365A182E1}"/>
                </a:ext>
              </a:extLst>
            </p:cNvPr>
            <p:cNvSpPr txBox="1"/>
            <p:nvPr/>
          </p:nvSpPr>
          <p:spPr>
            <a:xfrm>
              <a:off x="7401751" y="658906"/>
              <a:ext cx="12578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Detector</a:t>
              </a:r>
              <a:br>
                <a:rPr lang="en-US" altLang="ja-JP" sz="1400" dirty="0">
                  <a:latin typeface="Helvetica" pitchFamily="2" charset="0"/>
                </a:rPr>
              </a:br>
              <a:r>
                <a:rPr lang="en-US" altLang="ja-JP" sz="1400" dirty="0">
                  <a:latin typeface="Helvetica" pitchFamily="2" charset="0"/>
                </a:rPr>
                <a:t>(High-angle)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9C576CB8-3AD9-2EF5-B99C-FF06268362A1}"/>
                </a:ext>
              </a:extLst>
            </p:cNvPr>
            <p:cNvSpPr txBox="1"/>
            <p:nvPr/>
          </p:nvSpPr>
          <p:spPr>
            <a:xfrm>
              <a:off x="5894772" y="3184168"/>
              <a:ext cx="18053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Long pulsed</a:t>
              </a:r>
              <a:r>
                <a:rPr kumimoji="1" lang="en-US" altLang="ja-JP" sz="1400" dirty="0">
                  <a:latin typeface="Helvetica" pitchFamily="2" charset="0"/>
                </a:rPr>
                <a:t> Magnet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EC6CD773-4B06-D30A-CD58-C50889933DD0}"/>
                </a:ext>
              </a:extLst>
            </p:cNvPr>
            <p:cNvSpPr txBox="1"/>
            <p:nvPr/>
          </p:nvSpPr>
          <p:spPr>
            <a:xfrm>
              <a:off x="5682083" y="2689470"/>
              <a:ext cx="667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kumimoji="1" lang="en-US" altLang="ja-JP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LPM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32FBA8D4-959F-A8F7-5DA3-7E761D6DE6C6}"/>
                </a:ext>
              </a:extLst>
            </p:cNvPr>
            <p:cNvGrpSpPr/>
            <p:nvPr/>
          </p:nvGrpSpPr>
          <p:grpSpPr>
            <a:xfrm>
              <a:off x="3912703" y="2614558"/>
              <a:ext cx="262873" cy="664388"/>
              <a:chOff x="2715915" y="3067457"/>
              <a:chExt cx="262873" cy="664388"/>
            </a:xfrm>
          </p:grpSpPr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EBB0A7FB-EF89-5E57-A34D-9F6BDD472BBB}"/>
                  </a:ext>
                </a:extLst>
              </p:cNvPr>
              <p:cNvSpPr/>
              <p:nvPr/>
            </p:nvSpPr>
            <p:spPr>
              <a:xfrm>
                <a:off x="2715915" y="3067457"/>
                <a:ext cx="262873" cy="664388"/>
              </a:xfrm>
              <a:prstGeom prst="rect">
                <a:avLst/>
              </a:prstGeom>
              <a:pattFill prst="pct25">
                <a:fgClr>
                  <a:schemeClr val="accent1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5" name="円/楕円 44">
                <a:extLst>
                  <a:ext uri="{FF2B5EF4-FFF2-40B4-BE49-F238E27FC236}">
                    <a16:creationId xmlns:a16="http://schemas.microsoft.com/office/drawing/2014/main" id="{066BC765-4310-F5E5-2BD1-B8BED54000F8}"/>
                  </a:ext>
                </a:extLst>
              </p:cNvPr>
              <p:cNvSpPr/>
              <p:nvPr/>
            </p:nvSpPr>
            <p:spPr>
              <a:xfrm>
                <a:off x="2741623" y="3292758"/>
                <a:ext cx="211457" cy="21145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2B79A836-8E79-582B-EFD8-0BB550DF2AD7}"/>
                </a:ext>
              </a:extLst>
            </p:cNvPr>
            <p:cNvSpPr/>
            <p:nvPr/>
          </p:nvSpPr>
          <p:spPr>
            <a:xfrm rot="19200000">
              <a:off x="5933392" y="1913033"/>
              <a:ext cx="262873" cy="664388"/>
            </a:xfrm>
            <a:prstGeom prst="rect">
              <a:avLst/>
            </a:prstGeom>
            <a:pattFill prst="pct25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円/楕円 55">
              <a:extLst>
                <a:ext uri="{FF2B5EF4-FFF2-40B4-BE49-F238E27FC236}">
                  <a16:creationId xmlns:a16="http://schemas.microsoft.com/office/drawing/2014/main" id="{43F51D29-E1FE-4BA6-304C-CBDA8A34BE70}"/>
                </a:ext>
              </a:extLst>
            </p:cNvPr>
            <p:cNvSpPr/>
            <p:nvPr/>
          </p:nvSpPr>
          <p:spPr>
            <a:xfrm rot="19200000">
              <a:off x="5958351" y="2138606"/>
              <a:ext cx="211457" cy="2114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5059B621-5A49-AB87-5757-A514B2A27C88}"/>
                </a:ext>
              </a:extLst>
            </p:cNvPr>
            <p:cNvSpPr/>
            <p:nvPr/>
          </p:nvSpPr>
          <p:spPr>
            <a:xfrm rot="19200000">
              <a:off x="6541758" y="1639139"/>
              <a:ext cx="311444" cy="25019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円/楕円 58">
              <a:extLst>
                <a:ext uri="{FF2B5EF4-FFF2-40B4-BE49-F238E27FC236}">
                  <a16:creationId xmlns:a16="http://schemas.microsoft.com/office/drawing/2014/main" id="{6F223570-B037-AD76-EB00-CB6DAFF33D4B}"/>
                </a:ext>
              </a:extLst>
            </p:cNvPr>
            <p:cNvSpPr/>
            <p:nvPr/>
          </p:nvSpPr>
          <p:spPr>
            <a:xfrm>
              <a:off x="3980076" y="2878123"/>
              <a:ext cx="134927" cy="13492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>
              <a:extLst>
                <a:ext uri="{FF2B5EF4-FFF2-40B4-BE49-F238E27FC236}">
                  <a16:creationId xmlns:a16="http://schemas.microsoft.com/office/drawing/2014/main" id="{525A7AEC-B180-A3C6-2A3B-C50016588FC1}"/>
                </a:ext>
              </a:extLst>
            </p:cNvPr>
            <p:cNvSpPr/>
            <p:nvPr/>
          </p:nvSpPr>
          <p:spPr>
            <a:xfrm>
              <a:off x="5996616" y="2176871"/>
              <a:ext cx="134927" cy="13492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9F28E23D-493C-593A-6A81-F2A5F5CE3F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649" y="1700537"/>
              <a:ext cx="365802" cy="1173599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18826D0C-7F1E-09A9-DD32-2A061B15F9BB}"/>
                </a:ext>
              </a:extLst>
            </p:cNvPr>
            <p:cNvSpPr txBox="1"/>
            <p:nvPr/>
          </p:nvSpPr>
          <p:spPr>
            <a:xfrm>
              <a:off x="6344428" y="2387499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ja-JP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B816A466-511C-4DAF-7A01-C3538F88F39C}"/>
                </a:ext>
              </a:extLst>
            </p:cNvPr>
            <p:cNvSpPr txBox="1"/>
            <p:nvPr/>
          </p:nvSpPr>
          <p:spPr>
            <a:xfrm>
              <a:off x="3587471" y="3134553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ja-JP" baseline="-25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D573506E-83FF-5634-4292-F0AD03304466}"/>
                </a:ext>
              </a:extLst>
            </p:cNvPr>
            <p:cNvSpPr txBox="1"/>
            <p:nvPr/>
          </p:nvSpPr>
          <p:spPr>
            <a:xfrm>
              <a:off x="3432953" y="2584189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ja-JP" i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1" lang="ja-JP" altLang="en-US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7B8D334D-90BD-CB53-11C1-6DB3A828EEF8}"/>
                </a:ext>
              </a:extLst>
            </p:cNvPr>
            <p:cNvSpPr txBox="1"/>
            <p:nvPr/>
          </p:nvSpPr>
          <p:spPr>
            <a:xfrm>
              <a:off x="7026869" y="1331205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ja-JP" i="1" baseline="-25000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kumimoji="1" lang="ja-JP" altLang="en-US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0B35D22B-9CAF-002C-2CAF-12DF17DE8559}"/>
                </a:ext>
              </a:extLst>
            </p:cNvPr>
            <p:cNvSpPr txBox="1"/>
            <p:nvPr/>
          </p:nvSpPr>
          <p:spPr>
            <a:xfrm>
              <a:off x="1978375" y="2631948"/>
              <a:ext cx="16536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Incident polarized neutron beam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6D91F8C7-85BE-9A2D-2CE3-9BF5AF9093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53043" y="2874346"/>
              <a:ext cx="135453" cy="135453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76B046A3-4D37-2B6E-E2BD-D658F146AD06}"/>
                </a:ext>
              </a:extLst>
            </p:cNvPr>
            <p:cNvSpPr txBox="1"/>
            <p:nvPr/>
          </p:nvSpPr>
          <p:spPr>
            <a:xfrm>
              <a:off x="6389592" y="2695422"/>
              <a:ext cx="1308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Guide Magnet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260B9D49-27C6-0AAF-8619-B3EB1557ADA7}"/>
                </a:ext>
              </a:extLst>
            </p:cNvPr>
            <p:cNvGrpSpPr/>
            <p:nvPr/>
          </p:nvGrpSpPr>
          <p:grpSpPr>
            <a:xfrm rot="-1320000">
              <a:off x="5273289" y="1099969"/>
              <a:ext cx="540000" cy="540000"/>
              <a:chOff x="3305669" y="1235297"/>
              <a:chExt cx="540000" cy="540000"/>
            </a:xfrm>
          </p:grpSpPr>
          <p:cxnSp>
            <p:nvCxnSpPr>
              <p:cNvPr id="18" name="直線矢印コネクタ 17">
                <a:extLst>
                  <a:ext uri="{FF2B5EF4-FFF2-40B4-BE49-F238E27FC236}">
                    <a16:creationId xmlns:a16="http://schemas.microsoft.com/office/drawing/2014/main" id="{7039F668-D5DC-0B51-A28A-0232852FFC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05669" y="1235297"/>
                <a:ext cx="54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014E0920-9968-8D2F-F505-7998DDD9BB0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575669" y="1505297"/>
                <a:ext cx="54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lg" len="lg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649B243C-AFA6-A2BA-1FEE-219D8E29035D}"/>
                </a:ext>
              </a:extLst>
            </p:cNvPr>
            <p:cNvSpPr txBox="1"/>
            <p:nvPr/>
          </p:nvSpPr>
          <p:spPr>
            <a:xfrm rot="-1320000">
              <a:off x="4878626" y="803564"/>
              <a:ext cx="9044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[001] || </a:t>
              </a:r>
              <a:r>
                <a:rPr kumimoji="1" lang="en-US" altLang="ja-JP" sz="1400" i="1" dirty="0">
                  <a:latin typeface="Helvetica" pitchFamily="2" charset="0"/>
                </a:rPr>
                <a:t>H</a:t>
              </a:r>
              <a:endParaRPr kumimoji="1" lang="ja-JP" altLang="en-US" sz="1400" i="1">
                <a:latin typeface="Helvetica" pitchFamily="2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85DA47C4-5FE9-C8AD-4D16-45E2391648DE}"/>
                </a:ext>
              </a:extLst>
            </p:cNvPr>
            <p:cNvSpPr txBox="1"/>
            <p:nvPr/>
          </p:nvSpPr>
          <p:spPr>
            <a:xfrm rot="4080000">
              <a:off x="5659406" y="1014748"/>
              <a:ext cx="5690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[110]</a:t>
              </a:r>
              <a:endParaRPr kumimoji="1" lang="ja-JP" altLang="en-US" sz="1400" i="1">
                <a:latin typeface="Helvetica" pitchFamily="2" charset="0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5D6FB508-8CF8-5A81-036A-4FAAD77E84B3}"/>
                </a:ext>
              </a:extLst>
            </p:cNvPr>
            <p:cNvSpPr/>
            <p:nvPr/>
          </p:nvSpPr>
          <p:spPr>
            <a:xfrm rot="20280000">
              <a:off x="5044857" y="671611"/>
              <a:ext cx="1041561" cy="9942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0735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6E8D7-9727-E16D-821C-6470A5ECF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グループ化 105">
            <a:extLst>
              <a:ext uri="{FF2B5EF4-FFF2-40B4-BE49-F238E27FC236}">
                <a16:creationId xmlns:a16="http://schemas.microsoft.com/office/drawing/2014/main" id="{CA48730B-AC17-33FD-45D6-D922ACAF7285}"/>
              </a:ext>
            </a:extLst>
          </p:cNvPr>
          <p:cNvGrpSpPr/>
          <p:nvPr/>
        </p:nvGrpSpPr>
        <p:grpSpPr>
          <a:xfrm>
            <a:off x="2246610" y="4477290"/>
            <a:ext cx="4909107" cy="2543424"/>
            <a:chOff x="2246610" y="4218672"/>
            <a:chExt cx="4909107" cy="2543424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187B5A8A-CF73-E5E2-4492-3AB394F06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288" t="45285" r="55906" b="41300"/>
            <a:stretch>
              <a:fillRect/>
            </a:stretch>
          </p:blipFill>
          <p:spPr>
            <a:xfrm rot="1380000">
              <a:off x="3188683" y="4218672"/>
              <a:ext cx="1849762" cy="2543424"/>
            </a:xfrm>
            <a:prstGeom prst="rect">
              <a:avLst/>
            </a:prstGeom>
          </p:spPr>
        </p:pic>
        <p:grpSp>
          <p:nvGrpSpPr>
            <p:cNvPr id="105" name="グループ化 104">
              <a:extLst>
                <a:ext uri="{FF2B5EF4-FFF2-40B4-BE49-F238E27FC236}">
                  <a16:creationId xmlns:a16="http://schemas.microsoft.com/office/drawing/2014/main" id="{103B761F-6BFB-5EAF-8306-790826CD68F7}"/>
                </a:ext>
              </a:extLst>
            </p:cNvPr>
            <p:cNvGrpSpPr/>
            <p:nvPr/>
          </p:nvGrpSpPr>
          <p:grpSpPr>
            <a:xfrm>
              <a:off x="2246610" y="5069614"/>
              <a:ext cx="4909107" cy="989626"/>
              <a:chOff x="2246610" y="5069614"/>
              <a:chExt cx="4909107" cy="989626"/>
            </a:xfrm>
          </p:grpSpPr>
          <p:cxnSp>
            <p:nvCxnSpPr>
              <p:cNvPr id="11" name="直線コネクタ 10">
                <a:extLst>
                  <a:ext uri="{FF2B5EF4-FFF2-40B4-BE49-F238E27FC236}">
                    <a16:creationId xmlns:a16="http://schemas.microsoft.com/office/drawing/2014/main" id="{849FCAF9-8085-F609-7FAA-46B27CD63E9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151659" y="4963190"/>
                <a:ext cx="0" cy="1091373"/>
              </a:xfrm>
              <a:prstGeom prst="line">
                <a:avLst/>
              </a:prstGeom>
              <a:ln w="57150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headEnd type="triangle" w="lg" len="lg"/>
                <a:tailEnd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円/楕円 12">
                <a:extLst>
                  <a:ext uri="{FF2B5EF4-FFF2-40B4-BE49-F238E27FC236}">
                    <a16:creationId xmlns:a16="http://schemas.microsoft.com/office/drawing/2014/main" id="{A5E4B48B-A27D-C8C0-494B-ADAD8E9252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92408" y="5395214"/>
                <a:ext cx="219600" cy="2196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4" name="直線コネクタ 13">
                <a:extLst>
                  <a:ext uri="{FF2B5EF4-FFF2-40B4-BE49-F238E27FC236}">
                    <a16:creationId xmlns:a16="http://schemas.microsoft.com/office/drawing/2014/main" id="{0E1071C3-0CC0-76D6-CB96-7D3A5743E2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46610" y="5502107"/>
                <a:ext cx="1855543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  <a:prstDash val="solid"/>
                <a:head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ADB72226-DDA9-15F5-1948-D322B2BAE6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74154" y="5501494"/>
                <a:ext cx="3081563" cy="0"/>
              </a:xfrm>
              <a:prstGeom prst="line">
                <a:avLst/>
              </a:prstGeom>
              <a:ln w="25400">
                <a:solidFill>
                  <a:schemeClr val="accent2"/>
                </a:solidFill>
                <a:prstDash val="solid"/>
                <a:head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43321BB2-601F-8416-382C-63830FBF71BA}"/>
                  </a:ext>
                </a:extLst>
              </p:cNvPr>
              <p:cNvGrpSpPr/>
              <p:nvPr/>
            </p:nvGrpSpPr>
            <p:grpSpPr>
              <a:xfrm>
                <a:off x="2782368" y="5164051"/>
                <a:ext cx="262873" cy="664388"/>
                <a:chOff x="2715915" y="3067457"/>
                <a:chExt cx="262873" cy="664388"/>
              </a:xfrm>
            </p:grpSpPr>
            <p:sp>
              <p:nvSpPr>
                <p:cNvPr id="50" name="正方形/長方形 49">
                  <a:extLst>
                    <a:ext uri="{FF2B5EF4-FFF2-40B4-BE49-F238E27FC236}">
                      <a16:creationId xmlns:a16="http://schemas.microsoft.com/office/drawing/2014/main" id="{80B4B027-E611-C932-B9E1-970D2DB20A2D}"/>
                    </a:ext>
                  </a:extLst>
                </p:cNvPr>
                <p:cNvSpPr/>
                <p:nvPr/>
              </p:nvSpPr>
              <p:spPr>
                <a:xfrm>
                  <a:off x="2715915" y="3067457"/>
                  <a:ext cx="262873" cy="664388"/>
                </a:xfrm>
                <a:prstGeom prst="rect">
                  <a:avLst/>
                </a:prstGeom>
                <a:pattFill prst="pct25">
                  <a:fgClr>
                    <a:schemeClr val="accent1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1" name="円/楕円 50">
                  <a:extLst>
                    <a:ext uri="{FF2B5EF4-FFF2-40B4-BE49-F238E27FC236}">
                      <a16:creationId xmlns:a16="http://schemas.microsoft.com/office/drawing/2014/main" id="{C019E8EF-038B-2D47-CF56-E44F09116220}"/>
                    </a:ext>
                  </a:extLst>
                </p:cNvPr>
                <p:cNvSpPr/>
                <p:nvPr/>
              </p:nvSpPr>
              <p:spPr>
                <a:xfrm>
                  <a:off x="2741623" y="3292758"/>
                  <a:ext cx="211457" cy="2114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3E4D96AC-59AF-F1C2-9020-46D61915D8E7}"/>
                  </a:ext>
                </a:extLst>
              </p:cNvPr>
              <p:cNvSpPr/>
              <p:nvPr/>
            </p:nvSpPr>
            <p:spPr>
              <a:xfrm>
                <a:off x="5582965" y="5376397"/>
                <a:ext cx="311444" cy="250193"/>
              </a:xfrm>
              <a:prstGeom prst="rect">
                <a:avLst/>
              </a:prstGeom>
              <a:pattFill prst="dkHorz">
                <a:fgClr>
                  <a:schemeClr val="tx1"/>
                </a:fgClr>
                <a:bgClr>
                  <a:schemeClr val="bg1"/>
                </a:bgClr>
              </a:patt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円/楕円 27">
                <a:extLst>
                  <a:ext uri="{FF2B5EF4-FFF2-40B4-BE49-F238E27FC236}">
                    <a16:creationId xmlns:a16="http://schemas.microsoft.com/office/drawing/2014/main" id="{DC2F7F14-F3DB-415A-A679-E86F5199083D}"/>
                  </a:ext>
                </a:extLst>
              </p:cNvPr>
              <p:cNvSpPr/>
              <p:nvPr/>
            </p:nvSpPr>
            <p:spPr>
              <a:xfrm>
                <a:off x="2849741" y="5433478"/>
                <a:ext cx="134927" cy="134927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55" name="グループ化 54">
                <a:extLst>
                  <a:ext uri="{FF2B5EF4-FFF2-40B4-BE49-F238E27FC236}">
                    <a16:creationId xmlns:a16="http://schemas.microsoft.com/office/drawing/2014/main" id="{98B11E47-201F-A5A3-FD43-133A947A86FC}"/>
                  </a:ext>
                </a:extLst>
              </p:cNvPr>
              <p:cNvGrpSpPr/>
              <p:nvPr/>
            </p:nvGrpSpPr>
            <p:grpSpPr>
              <a:xfrm>
                <a:off x="4971775" y="5164051"/>
                <a:ext cx="262873" cy="664388"/>
                <a:chOff x="4995030" y="2586889"/>
                <a:chExt cx="262873" cy="664388"/>
              </a:xfrm>
            </p:grpSpPr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EBCE71D9-84C1-C732-BCC9-8490131AE6FE}"/>
                    </a:ext>
                  </a:extLst>
                </p:cNvPr>
                <p:cNvSpPr/>
                <p:nvPr/>
              </p:nvSpPr>
              <p:spPr>
                <a:xfrm>
                  <a:off x="4995030" y="2586889"/>
                  <a:ext cx="262873" cy="664388"/>
                </a:xfrm>
                <a:prstGeom prst="rect">
                  <a:avLst/>
                </a:prstGeom>
                <a:pattFill prst="pct25">
                  <a:fgClr>
                    <a:schemeClr val="accent1"/>
                  </a:fgClr>
                  <a:bgClr>
                    <a:schemeClr val="bg1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6" name="円/楕円 25">
                  <a:extLst>
                    <a:ext uri="{FF2B5EF4-FFF2-40B4-BE49-F238E27FC236}">
                      <a16:creationId xmlns:a16="http://schemas.microsoft.com/office/drawing/2014/main" id="{09AEB626-77C8-A9E1-8F9A-24F726954DF2}"/>
                    </a:ext>
                  </a:extLst>
                </p:cNvPr>
                <p:cNvSpPr/>
                <p:nvPr/>
              </p:nvSpPr>
              <p:spPr>
                <a:xfrm rot="19200000">
                  <a:off x="5019989" y="2812462"/>
                  <a:ext cx="211457" cy="21145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9" name="円/楕円 28">
                  <a:extLst>
                    <a:ext uri="{FF2B5EF4-FFF2-40B4-BE49-F238E27FC236}">
                      <a16:creationId xmlns:a16="http://schemas.microsoft.com/office/drawing/2014/main" id="{42030B7D-C393-0E0C-B4BD-7C141C90C6BA}"/>
                    </a:ext>
                  </a:extLst>
                </p:cNvPr>
                <p:cNvSpPr/>
                <p:nvPr/>
              </p:nvSpPr>
              <p:spPr>
                <a:xfrm>
                  <a:off x="5058254" y="2850727"/>
                  <a:ext cx="134927" cy="134927"/>
                </a:xfrm>
                <a:prstGeom prst="ellipse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4CD0908D-2FE3-8C68-5D3C-E97A7F04CD7A}"/>
                  </a:ext>
                </a:extLst>
              </p:cNvPr>
              <p:cNvSpPr txBox="1"/>
              <p:nvPr/>
            </p:nvSpPr>
            <p:spPr>
              <a:xfrm>
                <a:off x="2457136" y="5689908"/>
                <a:ext cx="5485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i="1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ja-JP" i="1" baseline="-25000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kumimoji="1" lang="en-US" altLang="ja-JP" baseline="-25000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kumimoji="1" lang="ja-JP" altLang="en-US" baseline="-2500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D0468E1C-C2B4-045E-CFFE-50D43B82F32A}"/>
                  </a:ext>
                </a:extLst>
              </p:cNvPr>
              <p:cNvSpPr txBox="1"/>
              <p:nvPr/>
            </p:nvSpPr>
            <p:spPr>
              <a:xfrm>
                <a:off x="2302618" y="513954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ja-JP" i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kumimoji="1" lang="ja-JP" altLang="en-US" baseline="-2500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649AA576-C6C0-6279-CFE0-7EBCDDDF4F3D}"/>
                  </a:ext>
                </a:extLst>
              </p:cNvPr>
              <p:cNvSpPr txBox="1"/>
              <p:nvPr/>
            </p:nvSpPr>
            <p:spPr>
              <a:xfrm>
                <a:off x="6144370" y="506961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i="1" dirty="0" err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ja-JP" i="1" baseline="-25000" dirty="0" err="1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kumimoji="1" lang="ja-JP" altLang="en-US" baseline="-2500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15E6C9DB-CBA0-869B-BF1E-02BD4C7CA1D2}"/>
              </a:ext>
            </a:extLst>
          </p:cNvPr>
          <p:cNvGrpSpPr/>
          <p:nvPr/>
        </p:nvGrpSpPr>
        <p:grpSpPr>
          <a:xfrm>
            <a:off x="848040" y="-229566"/>
            <a:ext cx="6879136" cy="4758491"/>
            <a:chOff x="781587" y="317987"/>
            <a:chExt cx="6879136" cy="4758491"/>
          </a:xfrm>
        </p:grpSpPr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D262A52D-E177-02FE-08A6-D6EEA05C2F87}"/>
                </a:ext>
              </a:extLst>
            </p:cNvPr>
            <p:cNvSpPr/>
            <p:nvPr/>
          </p:nvSpPr>
          <p:spPr>
            <a:xfrm rot="-4200000">
              <a:off x="6291903" y="1002344"/>
              <a:ext cx="180000" cy="144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1" name="図 70">
              <a:extLst>
                <a:ext uri="{FF2B5EF4-FFF2-40B4-BE49-F238E27FC236}">
                  <a16:creationId xmlns:a16="http://schemas.microsoft.com/office/drawing/2014/main" id="{2845A531-7C53-2E29-F244-F8386979F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288" t="45285" r="55906" b="41300"/>
            <a:stretch>
              <a:fillRect/>
            </a:stretch>
          </p:blipFill>
          <p:spPr>
            <a:xfrm>
              <a:off x="3122230" y="2116216"/>
              <a:ext cx="1849762" cy="2543424"/>
            </a:xfrm>
            <a:prstGeom prst="rect">
              <a:avLst/>
            </a:prstGeom>
          </p:spPr>
        </p:pic>
        <p:cxnSp>
          <p:nvCxnSpPr>
            <p:cNvPr id="73" name="直線コネクタ 72">
              <a:extLst>
                <a:ext uri="{FF2B5EF4-FFF2-40B4-BE49-F238E27FC236}">
                  <a16:creationId xmlns:a16="http://schemas.microsoft.com/office/drawing/2014/main" id="{2975CA5E-C942-A171-373D-376E7DAA8D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3793" y="3142369"/>
              <a:ext cx="1040630" cy="444308"/>
            </a:xfrm>
            <a:prstGeom prst="line">
              <a:avLst/>
            </a:prstGeom>
            <a:ln w="57150">
              <a:solidFill>
                <a:schemeClr val="tx2">
                  <a:lumMod val="75000"/>
                  <a:lumOff val="25000"/>
                </a:schemeClr>
              </a:solidFill>
              <a:prstDash val="solid"/>
              <a:headEnd type="triangle" w="lg" len="lg"/>
              <a:tailEnd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円/楕円 73">
              <a:extLst>
                <a:ext uri="{FF2B5EF4-FFF2-40B4-BE49-F238E27FC236}">
                  <a16:creationId xmlns:a16="http://schemas.microsoft.com/office/drawing/2014/main" id="{10236552-6B26-1502-7771-BD9FD1B859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25955" y="3292758"/>
              <a:ext cx="219600" cy="2196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5" name="直線コネクタ 74">
              <a:extLst>
                <a:ext uri="{FF2B5EF4-FFF2-40B4-BE49-F238E27FC236}">
                  <a16:creationId xmlns:a16="http://schemas.microsoft.com/office/drawing/2014/main" id="{76E8653C-B527-3EEC-27E9-958427EF4D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0157" y="3399651"/>
              <a:ext cx="1855543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solid"/>
              <a:head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コネクタ 76">
              <a:extLst>
                <a:ext uri="{FF2B5EF4-FFF2-40B4-BE49-F238E27FC236}">
                  <a16:creationId xmlns:a16="http://schemas.microsoft.com/office/drawing/2014/main" id="{013B9894-9E3A-7385-121E-72538FB841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5755" y="1705904"/>
              <a:ext cx="2051234" cy="1693748"/>
            </a:xfrm>
            <a:prstGeom prst="line">
              <a:avLst/>
            </a:prstGeom>
            <a:ln w="25400">
              <a:solidFill>
                <a:schemeClr val="accent2"/>
              </a:solidFill>
              <a:prstDash val="solid"/>
              <a:head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テキスト ボックス 79">
              <a:extLst>
                <a:ext uri="{FF2B5EF4-FFF2-40B4-BE49-F238E27FC236}">
                  <a16:creationId xmlns:a16="http://schemas.microsoft.com/office/drawing/2014/main" id="{F0F4CF3D-C74F-4B90-1CD3-94EC95DA4475}"/>
                </a:ext>
              </a:extLst>
            </p:cNvPr>
            <p:cNvSpPr txBox="1"/>
            <p:nvPr/>
          </p:nvSpPr>
          <p:spPr>
            <a:xfrm>
              <a:off x="2805737" y="1819396"/>
              <a:ext cx="1308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Guide Magnet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81" name="テキスト ボックス 80">
              <a:extLst>
                <a:ext uri="{FF2B5EF4-FFF2-40B4-BE49-F238E27FC236}">
                  <a16:creationId xmlns:a16="http://schemas.microsoft.com/office/drawing/2014/main" id="{F22797CA-E10F-B263-FAD0-B65E6E7284C1}"/>
                </a:ext>
              </a:extLst>
            </p:cNvPr>
            <p:cNvSpPr txBox="1"/>
            <p:nvPr/>
          </p:nvSpPr>
          <p:spPr>
            <a:xfrm>
              <a:off x="2939231" y="4000864"/>
              <a:ext cx="7922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Sample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E33DCC34-5217-F7A3-2D08-C6AF29079CBF}"/>
                </a:ext>
              </a:extLst>
            </p:cNvPr>
            <p:cNvSpPr txBox="1"/>
            <p:nvPr/>
          </p:nvSpPr>
          <p:spPr>
            <a:xfrm>
              <a:off x="5581235" y="2204265"/>
              <a:ext cx="12474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latin typeface="Helvetica" pitchFamily="2" charset="0"/>
                </a:rPr>
                <a:t>Analyzer</a:t>
              </a:r>
              <a:br>
                <a:rPr kumimoji="1" lang="en-US" altLang="ja-JP" sz="1400" dirty="0">
                  <a:latin typeface="Helvetica" pitchFamily="2" charset="0"/>
                </a:rPr>
              </a:br>
              <a:r>
                <a:rPr kumimoji="1" lang="en-US" altLang="ja-JP" sz="1400" dirty="0">
                  <a:latin typeface="Helvetica" pitchFamily="2" charset="0"/>
                </a:rPr>
                <a:t>(Supermirror)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AFD4DCD6-D0B7-F4D4-2CCD-6D42BDBCBCB8}"/>
                </a:ext>
              </a:extLst>
            </p:cNvPr>
            <p:cNvSpPr txBox="1"/>
            <p:nvPr/>
          </p:nvSpPr>
          <p:spPr>
            <a:xfrm>
              <a:off x="6204963" y="1111805"/>
              <a:ext cx="11689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Detector</a:t>
              </a:r>
              <a:br>
                <a:rPr lang="en-US" altLang="ja-JP" sz="1400" dirty="0">
                  <a:latin typeface="Helvetica" pitchFamily="2" charset="0"/>
                </a:rPr>
              </a:br>
              <a:r>
                <a:rPr lang="en-US" altLang="ja-JP" sz="1400" dirty="0">
                  <a:latin typeface="Helvetica" pitchFamily="2" charset="0"/>
                </a:rPr>
                <a:t>(High-angle)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id="{E0E6309E-F705-F6C1-105A-A88316AEC0C3}"/>
                </a:ext>
              </a:extLst>
            </p:cNvPr>
            <p:cNvSpPr txBox="1"/>
            <p:nvPr/>
          </p:nvSpPr>
          <p:spPr>
            <a:xfrm>
              <a:off x="4697984" y="3637067"/>
              <a:ext cx="18053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Long pulsed</a:t>
              </a:r>
              <a:r>
                <a:rPr kumimoji="1" lang="en-US" altLang="ja-JP" sz="1400" dirty="0">
                  <a:latin typeface="Helvetica" pitchFamily="2" charset="0"/>
                </a:rPr>
                <a:t> Magnet</a:t>
              </a:r>
              <a:endParaRPr kumimoji="1" lang="ja-JP" altLang="en-US" sz="1400">
                <a:latin typeface="Helvetica" pitchFamily="2" charset="0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5AB3B36D-EF1C-DB67-BFB6-18331AFE0243}"/>
                </a:ext>
              </a:extLst>
            </p:cNvPr>
            <p:cNvSpPr txBox="1"/>
            <p:nvPr/>
          </p:nvSpPr>
          <p:spPr>
            <a:xfrm>
              <a:off x="4485295" y="3142369"/>
              <a:ext cx="5918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kumimoji="1" lang="en-US" altLang="ja-JP" baseline="-250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lpm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81C221DB-60D2-558D-4A9F-7F77895430F1}"/>
                </a:ext>
              </a:extLst>
            </p:cNvPr>
            <p:cNvGrpSpPr/>
            <p:nvPr/>
          </p:nvGrpSpPr>
          <p:grpSpPr>
            <a:xfrm>
              <a:off x="2715915" y="3067457"/>
              <a:ext cx="262873" cy="664388"/>
              <a:chOff x="2715915" y="3067457"/>
              <a:chExt cx="262873" cy="664388"/>
            </a:xfrm>
          </p:grpSpPr>
          <p:sp>
            <p:nvSpPr>
              <p:cNvPr id="102" name="正方形/長方形 101">
                <a:extLst>
                  <a:ext uri="{FF2B5EF4-FFF2-40B4-BE49-F238E27FC236}">
                    <a16:creationId xmlns:a16="http://schemas.microsoft.com/office/drawing/2014/main" id="{74B01237-8317-1FA8-4408-C7BB43939947}"/>
                  </a:ext>
                </a:extLst>
              </p:cNvPr>
              <p:cNvSpPr/>
              <p:nvPr/>
            </p:nvSpPr>
            <p:spPr>
              <a:xfrm>
                <a:off x="2715915" y="3067457"/>
                <a:ext cx="262873" cy="664388"/>
              </a:xfrm>
              <a:prstGeom prst="rect">
                <a:avLst/>
              </a:prstGeom>
              <a:pattFill prst="pct25">
                <a:fgClr>
                  <a:schemeClr val="accent1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3" name="円/楕円 102">
                <a:extLst>
                  <a:ext uri="{FF2B5EF4-FFF2-40B4-BE49-F238E27FC236}">
                    <a16:creationId xmlns:a16="http://schemas.microsoft.com/office/drawing/2014/main" id="{EBBE5CA4-7332-23D3-684B-2C3EF480F8A9}"/>
                  </a:ext>
                </a:extLst>
              </p:cNvPr>
              <p:cNvSpPr/>
              <p:nvPr/>
            </p:nvSpPr>
            <p:spPr>
              <a:xfrm>
                <a:off x="2741623" y="3292758"/>
                <a:ext cx="211457" cy="21145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71886403-82EE-84FE-C938-4396C2B77973}"/>
                </a:ext>
              </a:extLst>
            </p:cNvPr>
            <p:cNvSpPr/>
            <p:nvPr/>
          </p:nvSpPr>
          <p:spPr>
            <a:xfrm rot="19200000">
              <a:off x="4736604" y="2365932"/>
              <a:ext cx="262873" cy="664388"/>
            </a:xfrm>
            <a:prstGeom prst="rect">
              <a:avLst/>
            </a:prstGeom>
            <a:pattFill prst="pct25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円/楕円 87">
              <a:extLst>
                <a:ext uri="{FF2B5EF4-FFF2-40B4-BE49-F238E27FC236}">
                  <a16:creationId xmlns:a16="http://schemas.microsoft.com/office/drawing/2014/main" id="{E704B4C3-21DD-2C64-B64D-DB73E80097F2}"/>
                </a:ext>
              </a:extLst>
            </p:cNvPr>
            <p:cNvSpPr/>
            <p:nvPr/>
          </p:nvSpPr>
          <p:spPr>
            <a:xfrm rot="19200000">
              <a:off x="4761563" y="2591505"/>
              <a:ext cx="211457" cy="2114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CD2847F7-E6CC-02E1-DC61-152397ABCCCC}"/>
                </a:ext>
              </a:extLst>
            </p:cNvPr>
            <p:cNvSpPr/>
            <p:nvPr/>
          </p:nvSpPr>
          <p:spPr>
            <a:xfrm rot="19200000">
              <a:off x="5344970" y="2092038"/>
              <a:ext cx="311444" cy="25019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円/楕円 89">
              <a:extLst>
                <a:ext uri="{FF2B5EF4-FFF2-40B4-BE49-F238E27FC236}">
                  <a16:creationId xmlns:a16="http://schemas.microsoft.com/office/drawing/2014/main" id="{B119992B-CC58-C84F-7593-EB8766AA304B}"/>
                </a:ext>
              </a:extLst>
            </p:cNvPr>
            <p:cNvSpPr/>
            <p:nvPr/>
          </p:nvSpPr>
          <p:spPr>
            <a:xfrm>
              <a:off x="2783288" y="3331022"/>
              <a:ext cx="134927" cy="13492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円/楕円 90">
              <a:extLst>
                <a:ext uri="{FF2B5EF4-FFF2-40B4-BE49-F238E27FC236}">
                  <a16:creationId xmlns:a16="http://schemas.microsoft.com/office/drawing/2014/main" id="{B3EB9CBD-D29D-5299-E872-EEEB5AB8DAED}"/>
                </a:ext>
              </a:extLst>
            </p:cNvPr>
            <p:cNvSpPr/>
            <p:nvPr/>
          </p:nvSpPr>
          <p:spPr>
            <a:xfrm>
              <a:off x="4799828" y="2629770"/>
              <a:ext cx="134927" cy="13492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2" name="直線コネクタ 91">
              <a:extLst>
                <a:ext uri="{FF2B5EF4-FFF2-40B4-BE49-F238E27FC236}">
                  <a16:creationId xmlns:a16="http://schemas.microsoft.com/office/drawing/2014/main" id="{DEB94D31-B6B8-22DA-9965-CADEC1C8F8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9138" y="2053170"/>
              <a:ext cx="567949" cy="999853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コネクタ 92">
              <a:extLst>
                <a:ext uri="{FF2B5EF4-FFF2-40B4-BE49-F238E27FC236}">
                  <a16:creationId xmlns:a16="http://schemas.microsoft.com/office/drawing/2014/main" id="{DB4C9FCC-620A-860F-6D1F-3824F20CFAE3}"/>
                </a:ext>
              </a:extLst>
            </p:cNvPr>
            <p:cNvCxnSpPr>
              <a:cxnSpLocks/>
              <a:endCxn id="87" idx="0"/>
            </p:cNvCxnSpPr>
            <p:nvPr/>
          </p:nvCxnSpPr>
          <p:spPr>
            <a:xfrm>
              <a:off x="3544036" y="2045358"/>
              <a:ext cx="1110475" cy="398292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5A507D55-51A0-29C6-7C85-3187E15F7E0C}"/>
                </a:ext>
              </a:extLst>
            </p:cNvPr>
            <p:cNvCxnSpPr>
              <a:cxnSpLocks/>
              <a:stCxn id="74" idx="3"/>
              <a:endCxn id="81" idx="0"/>
            </p:cNvCxnSpPr>
            <p:nvPr/>
          </p:nvCxnSpPr>
          <p:spPr>
            <a:xfrm flipH="1">
              <a:off x="3335334" y="3480198"/>
              <a:ext cx="622781" cy="52066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D3D90E19-4FB8-40DC-C9F5-D4B67B352BC2}"/>
                </a:ext>
              </a:extLst>
            </p:cNvPr>
            <p:cNvCxnSpPr>
              <a:cxnSpLocks/>
            </p:cNvCxnSpPr>
            <p:nvPr/>
          </p:nvCxnSpPr>
          <p:spPr>
            <a:xfrm rot="-1440000" flipH="1">
              <a:off x="2902232" y="2840398"/>
              <a:ext cx="4758491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B7457CA2-1DF7-E85F-A632-193128A48022}"/>
                </a:ext>
              </a:extLst>
            </p:cNvPr>
            <p:cNvCxnSpPr>
              <a:cxnSpLocks/>
            </p:cNvCxnSpPr>
            <p:nvPr/>
          </p:nvCxnSpPr>
          <p:spPr>
            <a:xfrm rot="-2940000" flipH="1">
              <a:off x="2275266" y="2697233"/>
              <a:ext cx="4758491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テキスト ボックス 96">
              <a:extLst>
                <a:ext uri="{FF2B5EF4-FFF2-40B4-BE49-F238E27FC236}">
                  <a16:creationId xmlns:a16="http://schemas.microsoft.com/office/drawing/2014/main" id="{35BC0455-2461-12B9-CED4-B8BFC0932BE8}"/>
                </a:ext>
              </a:extLst>
            </p:cNvPr>
            <p:cNvSpPr txBox="1"/>
            <p:nvPr/>
          </p:nvSpPr>
          <p:spPr>
            <a:xfrm>
              <a:off x="5147640" y="2840398"/>
              <a:ext cx="548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ja-JP" i="1" baseline="-250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kumimoji="1" lang="en-US" altLang="ja-JP" baseline="-250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テキスト ボックス 97">
              <a:extLst>
                <a:ext uri="{FF2B5EF4-FFF2-40B4-BE49-F238E27FC236}">
                  <a16:creationId xmlns:a16="http://schemas.microsoft.com/office/drawing/2014/main" id="{F9523210-4773-6F74-D837-DDB66C8DFA2C}"/>
                </a:ext>
              </a:extLst>
            </p:cNvPr>
            <p:cNvSpPr txBox="1"/>
            <p:nvPr/>
          </p:nvSpPr>
          <p:spPr>
            <a:xfrm>
              <a:off x="2390683" y="3587452"/>
              <a:ext cx="548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ja-JP" i="1" baseline="-250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kumimoji="1" lang="en-US" altLang="ja-JP" baseline="-250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ja-JP" altLang="en-US" baseline="-2500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テキスト ボックス 98">
              <a:extLst>
                <a:ext uri="{FF2B5EF4-FFF2-40B4-BE49-F238E27FC236}">
                  <a16:creationId xmlns:a16="http://schemas.microsoft.com/office/drawing/2014/main" id="{E2C97FB2-C17F-F804-B38C-1D6D1390235A}"/>
                </a:ext>
              </a:extLst>
            </p:cNvPr>
            <p:cNvSpPr txBox="1"/>
            <p:nvPr/>
          </p:nvSpPr>
          <p:spPr>
            <a:xfrm>
              <a:off x="2236165" y="3037088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ja-JP" i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1" lang="ja-JP" altLang="en-US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13D16AFA-C6C2-7835-11FD-2B01365B8253}"/>
                </a:ext>
              </a:extLst>
            </p:cNvPr>
            <p:cNvSpPr txBox="1"/>
            <p:nvPr/>
          </p:nvSpPr>
          <p:spPr>
            <a:xfrm>
              <a:off x="5830081" y="1784104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ja-JP" i="1" baseline="-25000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kumimoji="1" lang="ja-JP" altLang="en-US" baseline="-250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テキスト ボックス 100">
              <a:extLst>
                <a:ext uri="{FF2B5EF4-FFF2-40B4-BE49-F238E27FC236}">
                  <a16:creationId xmlns:a16="http://schemas.microsoft.com/office/drawing/2014/main" id="{C121314A-9628-DAA8-CB95-F311B0ECFA43}"/>
                </a:ext>
              </a:extLst>
            </p:cNvPr>
            <p:cNvSpPr txBox="1"/>
            <p:nvPr/>
          </p:nvSpPr>
          <p:spPr>
            <a:xfrm>
              <a:off x="781587" y="3084847"/>
              <a:ext cx="16536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Helvetica" pitchFamily="2" charset="0"/>
                </a:rPr>
                <a:t>Incident polarized neutron beam</a:t>
              </a:r>
              <a:endParaRPr kumimoji="1" lang="ja-JP" altLang="en-US" sz="14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691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コンテンツ プレースホルダー 4">
            <a:extLst>
              <a:ext uri="{FF2B5EF4-FFF2-40B4-BE49-F238E27FC236}">
                <a16:creationId xmlns:a16="http://schemas.microsoft.com/office/drawing/2014/main" id="{CF781BE6-B5A0-A871-C7D9-401DCB5BFF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187" y="1289842"/>
            <a:ext cx="4900228" cy="3030154"/>
          </a:xfrm>
          <a:prstGeom prst="rect">
            <a:avLst/>
          </a:prstGeom>
        </p:spPr>
      </p:pic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5FDAAD17-6548-C3DD-2B1F-68A45BFF0FB9}"/>
              </a:ext>
            </a:extLst>
          </p:cNvPr>
          <p:cNvGrpSpPr/>
          <p:nvPr/>
        </p:nvGrpSpPr>
        <p:grpSpPr>
          <a:xfrm>
            <a:off x="5360275" y="247726"/>
            <a:ext cx="6211614" cy="5896303"/>
            <a:chOff x="5360275" y="247726"/>
            <a:chExt cx="6211614" cy="5896303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C589BE72-68A1-D454-A4E9-5E992A5D8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865" t="10138" r="4560" b="3885"/>
            <a:stretch>
              <a:fillRect/>
            </a:stretch>
          </p:blipFill>
          <p:spPr>
            <a:xfrm>
              <a:off x="5360275" y="247726"/>
              <a:ext cx="6211614" cy="5896303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6D93C184-DD42-6043-2C37-61E0CBBE3E4A}"/>
                </a:ext>
              </a:extLst>
            </p:cNvPr>
            <p:cNvSpPr txBox="1"/>
            <p:nvPr/>
          </p:nvSpPr>
          <p:spPr>
            <a:xfrm>
              <a:off x="6306207" y="398726"/>
              <a:ext cx="7777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 dirty="0">
                  <a:solidFill>
                    <a:srgbClr val="3030FF"/>
                  </a:solidFill>
                  <a:latin typeface="Helvetica" pitchFamily="2" charset="0"/>
                </a:rPr>
                <a:t>2.83 </a:t>
              </a:r>
              <a:r>
                <a:rPr kumimoji="1" lang="en-US" altLang="ja-JP" sz="1600" dirty="0" err="1">
                  <a:solidFill>
                    <a:srgbClr val="3030FF"/>
                  </a:solidFill>
                  <a:latin typeface="Helvetica" pitchFamily="2" charset="0"/>
                </a:rPr>
                <a:t>Å</a:t>
              </a:r>
              <a:endParaRPr kumimoji="1" lang="ja-JP" altLang="en-US" sz="1600">
                <a:solidFill>
                  <a:srgbClr val="3030FF"/>
                </a:solidFill>
                <a:latin typeface="Helvetica" pitchFamily="2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9AFA9A19-88F2-1F0C-8984-FA80F4241DE5}"/>
                </a:ext>
              </a:extLst>
            </p:cNvPr>
            <p:cNvSpPr txBox="1"/>
            <p:nvPr/>
          </p:nvSpPr>
          <p:spPr>
            <a:xfrm>
              <a:off x="10589172" y="2958662"/>
              <a:ext cx="42832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 err="1">
                  <a:latin typeface="Helvetica" pitchFamily="2" charset="0"/>
                </a:rPr>
                <a:t>H</a:t>
              </a:r>
              <a:r>
                <a:rPr kumimoji="1" lang="en-US" altLang="ja-JP" baseline="-25000" dirty="0" err="1">
                  <a:latin typeface="Helvetica" pitchFamily="2" charset="0"/>
                </a:rPr>
                <a:t>c</a:t>
              </a:r>
              <a:endParaRPr kumimoji="1" lang="ja-JP" altLang="en-US" baseline="-25000">
                <a:latin typeface="Helvetica" pitchFamily="2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171FC45A-079F-05E1-D000-4BA1A8233131}"/>
                </a:ext>
              </a:extLst>
            </p:cNvPr>
            <p:cNvSpPr txBox="1"/>
            <p:nvPr/>
          </p:nvSpPr>
          <p:spPr>
            <a:xfrm>
              <a:off x="6163121" y="2299691"/>
              <a:ext cx="412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 dirty="0">
                  <a:solidFill>
                    <a:srgbClr val="2A2A94"/>
                  </a:solidFill>
                  <a:latin typeface="Helvetica" pitchFamily="2" charset="0"/>
                </a:rPr>
                <a:t>#1</a:t>
              </a:r>
              <a:endParaRPr kumimoji="1" lang="ja-JP" altLang="en-US" sz="1600">
                <a:solidFill>
                  <a:srgbClr val="2A2A94"/>
                </a:solidFill>
                <a:latin typeface="Helvetica" pitchFamily="2" charset="0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61B8574-567F-1C73-B054-BF5B15309FD6}"/>
                </a:ext>
              </a:extLst>
            </p:cNvPr>
            <p:cNvSpPr txBox="1"/>
            <p:nvPr/>
          </p:nvSpPr>
          <p:spPr>
            <a:xfrm>
              <a:off x="6978241" y="2299691"/>
              <a:ext cx="412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 dirty="0">
                  <a:solidFill>
                    <a:srgbClr val="2A2A94"/>
                  </a:solidFill>
                  <a:latin typeface="Helvetica" pitchFamily="2" charset="0"/>
                </a:rPr>
                <a:t>#2</a:t>
              </a:r>
              <a:endParaRPr kumimoji="1" lang="ja-JP" altLang="en-US" sz="1600">
                <a:solidFill>
                  <a:srgbClr val="2A2A94"/>
                </a:solidFill>
                <a:latin typeface="Helvetica" pitchFamily="2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0D7DB624-D17D-6F79-4F6E-FC3F6EFD2C15}"/>
                </a:ext>
              </a:extLst>
            </p:cNvPr>
            <p:cNvSpPr txBox="1"/>
            <p:nvPr/>
          </p:nvSpPr>
          <p:spPr>
            <a:xfrm>
              <a:off x="7793361" y="2299691"/>
              <a:ext cx="412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 dirty="0">
                  <a:solidFill>
                    <a:srgbClr val="2A2A94"/>
                  </a:solidFill>
                  <a:latin typeface="Helvetica" pitchFamily="2" charset="0"/>
                </a:rPr>
                <a:t>#3</a:t>
              </a:r>
              <a:endParaRPr kumimoji="1" lang="ja-JP" altLang="en-US" sz="1600">
                <a:solidFill>
                  <a:srgbClr val="2A2A94"/>
                </a:solidFill>
                <a:latin typeface="Helvetica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9998E7BC-B9A5-CE03-47EC-F17EDEFB139E}"/>
                </a:ext>
              </a:extLst>
            </p:cNvPr>
            <p:cNvSpPr txBox="1"/>
            <p:nvPr/>
          </p:nvSpPr>
          <p:spPr>
            <a:xfrm>
              <a:off x="8608481" y="2299691"/>
              <a:ext cx="412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 dirty="0">
                  <a:solidFill>
                    <a:srgbClr val="2A2A94"/>
                  </a:solidFill>
                  <a:latin typeface="Helvetica" pitchFamily="2" charset="0"/>
                </a:rPr>
                <a:t>#4</a:t>
              </a:r>
              <a:endParaRPr kumimoji="1" lang="ja-JP" altLang="en-US" sz="1600">
                <a:solidFill>
                  <a:srgbClr val="2A2A94"/>
                </a:solidFill>
                <a:latin typeface="Helvetica" pitchFamily="2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538E863A-544E-5960-4FC6-515ACA6E7324}"/>
                </a:ext>
              </a:extLst>
            </p:cNvPr>
            <p:cNvSpPr txBox="1"/>
            <p:nvPr/>
          </p:nvSpPr>
          <p:spPr>
            <a:xfrm>
              <a:off x="9423601" y="2299691"/>
              <a:ext cx="412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 dirty="0">
                  <a:solidFill>
                    <a:srgbClr val="2A2A94"/>
                  </a:solidFill>
                  <a:latin typeface="Helvetica" pitchFamily="2" charset="0"/>
                </a:rPr>
                <a:t>#5</a:t>
              </a:r>
              <a:endParaRPr kumimoji="1" lang="ja-JP" altLang="en-US" sz="1600">
                <a:solidFill>
                  <a:srgbClr val="2A2A94"/>
                </a:solidFill>
                <a:latin typeface="Helvetica" pitchFamily="2" charset="0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6E3856F-984B-233F-D561-395336877BA4}"/>
                </a:ext>
              </a:extLst>
            </p:cNvPr>
            <p:cNvSpPr txBox="1"/>
            <p:nvPr/>
          </p:nvSpPr>
          <p:spPr>
            <a:xfrm>
              <a:off x="10238721" y="2299691"/>
              <a:ext cx="4122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 dirty="0">
                  <a:solidFill>
                    <a:srgbClr val="2A2A94"/>
                  </a:solidFill>
                  <a:latin typeface="Helvetica" pitchFamily="2" charset="0"/>
                </a:rPr>
                <a:t>#6</a:t>
              </a:r>
              <a:endParaRPr kumimoji="1" lang="ja-JP" altLang="en-US" sz="1600">
                <a:solidFill>
                  <a:srgbClr val="2A2A94"/>
                </a:solidFill>
                <a:latin typeface="Helvetica" pitchFamily="2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0A968AA5-10BA-F399-2D0C-79881ACF3CC5}"/>
                </a:ext>
              </a:extLst>
            </p:cNvPr>
            <p:cNvSpPr txBox="1"/>
            <p:nvPr/>
          </p:nvSpPr>
          <p:spPr>
            <a:xfrm>
              <a:off x="9849056" y="1979274"/>
              <a:ext cx="131959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 err="1">
                  <a:latin typeface="Helvetica" pitchFamily="2" charset="0"/>
                </a:rPr>
                <a:t>V</a:t>
              </a:r>
              <a:r>
                <a:rPr kumimoji="1" lang="en-US" altLang="ja-JP" dirty="0" err="1">
                  <a:latin typeface="Helvetica" pitchFamily="2" charset="0"/>
                </a:rPr>
                <a:t>c</a:t>
              </a:r>
              <a:r>
                <a:rPr kumimoji="1" lang="en-US" altLang="ja-JP" dirty="0">
                  <a:latin typeface="Helvetica" pitchFamily="2" charset="0"/>
                </a:rPr>
                <a:t> = 250 V</a:t>
              </a:r>
              <a:endParaRPr kumimoji="1" lang="ja-JP" altLang="en-US" baseline="-250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7993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0B1E4724-3EDF-2321-E7C4-19E039F2E428}"/>
              </a:ext>
            </a:extLst>
          </p:cNvPr>
          <p:cNvGrpSpPr/>
          <p:nvPr/>
        </p:nvGrpSpPr>
        <p:grpSpPr>
          <a:xfrm>
            <a:off x="778413" y="1215837"/>
            <a:ext cx="10109982" cy="4962378"/>
            <a:chOff x="778413" y="1215837"/>
            <a:chExt cx="10109982" cy="4962378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0EAFA565-55E1-6158-5EFA-E75CECBCF31B}"/>
                </a:ext>
              </a:extLst>
            </p:cNvPr>
            <p:cNvGrpSpPr/>
            <p:nvPr/>
          </p:nvGrpSpPr>
          <p:grpSpPr>
            <a:xfrm>
              <a:off x="778413" y="1215837"/>
              <a:ext cx="10109982" cy="4962378"/>
              <a:chOff x="778413" y="1215837"/>
              <a:chExt cx="10109982" cy="4962378"/>
            </a:xfrm>
          </p:grpSpPr>
          <p:grpSp>
            <p:nvGrpSpPr>
              <p:cNvPr id="10" name="グループ化 9">
                <a:extLst>
                  <a:ext uri="{FF2B5EF4-FFF2-40B4-BE49-F238E27FC236}">
                    <a16:creationId xmlns:a16="http://schemas.microsoft.com/office/drawing/2014/main" id="{5C6F7062-5ED5-9162-3FC4-35FF0C2D3A25}"/>
                  </a:ext>
                </a:extLst>
              </p:cNvPr>
              <p:cNvGrpSpPr/>
              <p:nvPr/>
            </p:nvGrpSpPr>
            <p:grpSpPr>
              <a:xfrm>
                <a:off x="778413" y="1215837"/>
                <a:ext cx="10109982" cy="4962378"/>
                <a:chOff x="778413" y="1215837"/>
                <a:chExt cx="10109982" cy="4962378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98B4130A-0616-ACD9-55E6-05970FA2AE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t="9551" r="5128"/>
                <a:stretch>
                  <a:fillRect/>
                </a:stretch>
              </p:blipFill>
              <p:spPr>
                <a:xfrm>
                  <a:off x="778413" y="1215837"/>
                  <a:ext cx="5205046" cy="4962378"/>
                </a:xfrm>
                <a:prstGeom prst="rect">
                  <a:avLst/>
                </a:prstGeom>
              </p:spPr>
            </p:pic>
            <p:pic>
              <p:nvPicPr>
                <p:cNvPr id="9" name="図 8">
                  <a:extLst>
                    <a:ext uri="{FF2B5EF4-FFF2-40B4-BE49-F238E27FC236}">
                      <a16:creationId xmlns:a16="http://schemas.microsoft.com/office/drawing/2014/main" id="{220D8551-7492-3959-6AFB-7F679BED0F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2888" t="3610" r="3346" b="3393"/>
                <a:stretch>
                  <a:fillRect/>
                </a:stretch>
              </p:blipFill>
              <p:spPr>
                <a:xfrm>
                  <a:off x="5983459" y="1313566"/>
                  <a:ext cx="4904936" cy="4864649"/>
                </a:xfrm>
                <a:prstGeom prst="rect">
                  <a:avLst/>
                </a:prstGeom>
              </p:spPr>
            </p:pic>
          </p:grp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C5C8746A-5B4F-BD33-B64F-EE846EB5D0C8}"/>
                  </a:ext>
                </a:extLst>
              </p:cNvPr>
              <p:cNvSpPr txBox="1"/>
              <p:nvPr/>
            </p:nvSpPr>
            <p:spPr>
              <a:xfrm>
                <a:off x="9649426" y="2234762"/>
                <a:ext cx="4283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i="1" dirty="0" err="1">
                    <a:latin typeface="Helvetica" pitchFamily="2" charset="0"/>
                  </a:rPr>
                  <a:t>H</a:t>
                </a:r>
                <a:r>
                  <a:rPr kumimoji="1" lang="en-US" altLang="ja-JP" baseline="-25000" dirty="0" err="1">
                    <a:latin typeface="Helvetica" pitchFamily="2" charset="0"/>
                  </a:rPr>
                  <a:t>c</a:t>
                </a:r>
                <a:endParaRPr kumimoji="1" lang="ja-JP" altLang="en-US" baseline="-25000">
                  <a:latin typeface="Helvetica" pitchFamily="2" charset="0"/>
                </a:endParaRPr>
              </a:p>
            </p:txBody>
          </p:sp>
        </p:grp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F0B9AD06-8DB7-5CE8-8156-9A2EED7617C2}"/>
                </a:ext>
              </a:extLst>
            </p:cNvPr>
            <p:cNvSpPr txBox="1"/>
            <p:nvPr/>
          </p:nvSpPr>
          <p:spPr>
            <a:xfrm>
              <a:off x="1448503" y="1312589"/>
              <a:ext cx="5613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latin typeface="Helvetica" pitchFamily="2" charset="0"/>
                </a:rPr>
                <a:t>(a)</a:t>
              </a:r>
              <a:endParaRPr kumimoji="1" lang="ja-JP" altLang="en-US" sz="2400">
                <a:latin typeface="Helvetica" pitchFamily="2" charset="0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E86ADFFB-7EA6-4516-4F5E-4A73D84F9029}"/>
                </a:ext>
              </a:extLst>
            </p:cNvPr>
            <p:cNvSpPr txBox="1"/>
            <p:nvPr/>
          </p:nvSpPr>
          <p:spPr>
            <a:xfrm>
              <a:off x="5927857" y="1312589"/>
              <a:ext cx="5437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latin typeface="Helvetica" pitchFamily="2" charset="0"/>
                </a:rPr>
                <a:t>(c)</a:t>
              </a:r>
              <a:endParaRPr kumimoji="1" lang="ja-JP" altLang="en-US" sz="2400">
                <a:latin typeface="Helvetica" pitchFamily="2" charset="0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0B180EB6-0E18-8FC7-7C09-B821BDB98983}"/>
                </a:ext>
              </a:extLst>
            </p:cNvPr>
            <p:cNvSpPr txBox="1"/>
            <p:nvPr/>
          </p:nvSpPr>
          <p:spPr>
            <a:xfrm>
              <a:off x="1448503" y="3482818"/>
              <a:ext cx="5613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latin typeface="Helvetica" pitchFamily="2" charset="0"/>
                </a:rPr>
                <a:t>(b)</a:t>
              </a:r>
              <a:endParaRPr kumimoji="1" lang="ja-JP" altLang="en-US" sz="2400">
                <a:latin typeface="Helvetic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7589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FA270-21AD-2F60-5A1E-E173E1D7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6BC71FE-04CE-1222-1E10-A2079239D73B}"/>
              </a:ext>
            </a:extLst>
          </p:cNvPr>
          <p:cNvGrpSpPr/>
          <p:nvPr/>
        </p:nvGrpSpPr>
        <p:grpSpPr>
          <a:xfrm>
            <a:off x="9586329" y="2527164"/>
            <a:ext cx="4904371" cy="5105536"/>
            <a:chOff x="7287064" y="1254189"/>
            <a:chExt cx="4904936" cy="4864649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3A608058-5FDB-1608-9570-155E6036D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888" t="3610" r="3346" b="3393"/>
            <a:stretch>
              <a:fillRect/>
            </a:stretch>
          </p:blipFill>
          <p:spPr>
            <a:xfrm>
              <a:off x="7287064" y="1254189"/>
              <a:ext cx="4904936" cy="4864649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9DB2B38A-6701-BEC2-40F9-CC2590AA0448}"/>
                </a:ext>
              </a:extLst>
            </p:cNvPr>
            <p:cNvSpPr txBox="1"/>
            <p:nvPr/>
          </p:nvSpPr>
          <p:spPr>
            <a:xfrm>
              <a:off x="10953031" y="2175385"/>
              <a:ext cx="42832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i="1" dirty="0" err="1">
                  <a:latin typeface="Helvetica" pitchFamily="2" charset="0"/>
                </a:rPr>
                <a:t>H</a:t>
              </a:r>
              <a:r>
                <a:rPr kumimoji="1" lang="en-US" altLang="ja-JP" baseline="-25000" dirty="0" err="1">
                  <a:latin typeface="Helvetica" pitchFamily="2" charset="0"/>
                </a:rPr>
                <a:t>c</a:t>
              </a:r>
              <a:endParaRPr kumimoji="1" lang="ja-JP" altLang="en-US" baseline="-25000">
                <a:latin typeface="Helvetica" pitchFamily="2" charset="0"/>
              </a:endParaRPr>
            </a:p>
          </p:txBody>
        </p: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9D93123-1357-E0A5-1178-224CC442355E}"/>
              </a:ext>
            </a:extLst>
          </p:cNvPr>
          <p:cNvSpPr txBox="1"/>
          <p:nvPr/>
        </p:nvSpPr>
        <p:spPr>
          <a:xfrm>
            <a:off x="8523516" y="4830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elvetica" pitchFamily="2" charset="0"/>
              </a:rPr>
              <a:t>(a)</a:t>
            </a:r>
            <a:endParaRPr kumimoji="1" lang="ja-JP" altLang="en-US" sz="2400">
              <a:latin typeface="Helvetica" pitchFamily="2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0C0CDE1-B28B-5D30-930F-322D25979044}"/>
              </a:ext>
            </a:extLst>
          </p:cNvPr>
          <p:cNvSpPr txBox="1"/>
          <p:nvPr/>
        </p:nvSpPr>
        <p:spPr>
          <a:xfrm>
            <a:off x="10280204" y="24852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elvetica" pitchFamily="2" charset="0"/>
              </a:rPr>
              <a:t>(c)</a:t>
            </a:r>
            <a:endParaRPr kumimoji="1" lang="ja-JP" altLang="en-US" sz="2400">
              <a:latin typeface="Helvetica" pitchFamily="2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CFB35B4-6383-9944-6BE1-7AF1E200E0E2}"/>
              </a:ext>
            </a:extLst>
          </p:cNvPr>
          <p:cNvSpPr txBox="1"/>
          <p:nvPr/>
        </p:nvSpPr>
        <p:spPr>
          <a:xfrm>
            <a:off x="9421091" y="0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Helvetica" pitchFamily="2" charset="0"/>
              </a:rPr>
              <a:t>(b)</a:t>
            </a:r>
            <a:endParaRPr kumimoji="1" lang="ja-JP" altLang="en-US" sz="2400">
              <a:latin typeface="Helvetica" pitchFamily="2" charset="0"/>
            </a:endParaRP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6BB42CF1-46AD-5C4F-57A5-B3E23490A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47044"/>
            <a:ext cx="4087519" cy="2662783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4EA974E6-96C5-17E9-85E8-40DE8E996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6764" y="3847044"/>
            <a:ext cx="4087519" cy="2662783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C0093379-81E0-CB7B-16CF-732CD955EF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88" y="350930"/>
            <a:ext cx="4271798" cy="3530667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C07ACD2A-761B-B6BA-10B7-01862493D6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649" y="350930"/>
            <a:ext cx="4271798" cy="353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22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DA835B-E866-B82F-849F-B06BD2BE3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9A836B9-EA81-11D7-F084-269E75F38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77606" y="1825625"/>
            <a:ext cx="70367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86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C31A-5085-4422-E423-11D28DE6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547358-C796-09C5-E370-421ECB72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CD93493-D818-675C-5DB6-7B8C82DA9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7606" y="1825625"/>
            <a:ext cx="70367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24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24036</TotalTime>
  <Words>196</Words>
  <Application>Microsoft Macintosh PowerPoint</Application>
  <PresentationFormat>ワイド画面</PresentationFormat>
  <Paragraphs>90</Paragraphs>
  <Slides>12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游ゴシック</vt:lpstr>
      <vt:lpstr>游ゴシック Light</vt:lpstr>
      <vt:lpstr>Arial</vt:lpstr>
      <vt:lpstr>Helvetica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Shingo Takahashi</dc:creator>
  <cp:lastModifiedBy>Shingo Takahashi</cp:lastModifiedBy>
  <cp:revision>3</cp:revision>
  <dcterms:created xsi:type="dcterms:W3CDTF">2026-10-05T05:05:01Z</dcterms:created>
  <dcterms:modified xsi:type="dcterms:W3CDTF">2026-10-28T23:53:06Z</dcterms:modified>
</cp:coreProperties>
</file>